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7" r:id="rId3"/>
    <p:sldId id="258" r:id="rId4"/>
    <p:sldId id="259" r:id="rId5"/>
    <p:sldId id="260" r:id="rId6"/>
    <p:sldId id="261" r:id="rId7"/>
    <p:sldId id="269" r:id="rId8"/>
    <p:sldId id="262" r:id="rId9"/>
    <p:sldId id="263" r:id="rId10"/>
    <p:sldId id="264" r:id="rId11"/>
    <p:sldId id="265" r:id="rId12"/>
    <p:sldId id="268" r:id="rId13"/>
    <p:sldId id="270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6FF4"/>
    <a:srgbClr val="AAAAAA"/>
    <a:srgbClr val="F5F5F5"/>
    <a:srgbClr val="FF4D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96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68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 Fusion</c:v>
                </c:pt>
              </c:strCache>
            </c:strRef>
          </c:tx>
          <c:spPr>
            <a:solidFill>
              <a:srgbClr val="AAAAAA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333333"/>
                    </a:solidFill>
                    <a:latin typeface="Pretendard Medium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IONIQ</c:v>
                </c:pt>
                <c:pt idx="1">
                  <c:v>KONA</c:v>
                </c:pt>
                <c:pt idx="2">
                  <c:v>NIRO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0.65700000000000003</c:v>
                </c:pt>
                <c:pt idx="1">
                  <c:v>0.67300000000000004</c:v>
                </c:pt>
                <c:pt idx="2">
                  <c:v>0.628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9C-4FC2-9E34-70DA37D50A9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Early Fusion (12채널)</c:v>
                </c:pt>
              </c:strCache>
            </c:strRef>
          </c:tx>
          <c:spPr>
            <a:solidFill>
              <a:srgbClr val="1A6FF4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333333"/>
                    </a:solidFill>
                    <a:latin typeface="Pretendard Medium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IONIQ</c:v>
                </c:pt>
                <c:pt idx="1">
                  <c:v>KONA</c:v>
                </c:pt>
                <c:pt idx="2">
                  <c:v>NIRO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0.871</c:v>
                </c:pt>
                <c:pt idx="1">
                  <c:v>0.874</c:v>
                </c:pt>
                <c:pt idx="2">
                  <c:v>0.82599999999999996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D9C-4FC2-9E34-70DA37D50A9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Pretendard Medium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555555"/>
              </a:solidFill>
              <a:latin typeface="Pretendard Medium"/>
              <a:cs typeface="Pretendard Medium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639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EA619-66F8-05A8-3169-4AAB400A4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D3DAED-6460-2FAA-A68E-1CD29A7AC5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A9ACFD-8366-EEE6-6A31-4741C4DE8D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415998-33C5-49E2-A41D-59C0E3F570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1910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9E415-3210-906C-2B47-F7538EE8A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7E3121-8F80-6408-DB25-CF25448A45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FB60E8-2338-AE4D-A88A-24A3ED9B95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EBB4FD-D36C-9624-A500-F4CB759AE4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9891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FED1D-90A0-712E-1B1F-1C93E73EF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6C3A07-C4CD-140E-8864-BEC37A3DC6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02A8CC-DD47-9CA1-7025-32186AABBF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1D7224-D4A9-0CDA-7B43-9B5271BD8C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0343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6FF4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40080" y="1562101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300" dirty="0">
                <a:solidFill>
                  <a:srgbClr val="AAAAA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3차 발표</a:t>
            </a:r>
            <a:endParaRPr lang="en-US" sz="1300" dirty="0">
              <a:solidFill>
                <a:srgbClr val="AAAAAA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905000"/>
            <a:ext cx="82296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2800" b="1" kern="0" spc="-100" dirty="0">
                <a:solidFill>
                  <a:srgbClr val="1A6FF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자율주행 </a:t>
            </a:r>
            <a:r>
              <a:rPr lang="en-US" sz="2800" b="1" kern="0" spc="-100" dirty="0" err="1">
                <a:solidFill>
                  <a:srgbClr val="1A6FF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전기차</a:t>
            </a:r>
            <a:r>
              <a:rPr lang="en-US" sz="2800" b="1" kern="0" spc="-100" dirty="0">
                <a:solidFill>
                  <a:srgbClr val="1A6FF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 </a:t>
            </a:r>
            <a:r>
              <a:rPr lang="en-US" sz="2800" b="1" kern="0" spc="-100" dirty="0" err="1">
                <a:solidFill>
                  <a:srgbClr val="1A6FF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모터</a:t>
            </a:r>
            <a:r>
              <a:rPr lang="ko-KR" altLang="en-US" sz="2800" b="1" kern="0" spc="-100" dirty="0">
                <a:solidFill>
                  <a:srgbClr val="1A6FF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－감속기</a:t>
            </a:r>
            <a:r>
              <a:rPr lang="en-US" altLang="ko-KR" sz="2800" b="1" dirty="0">
                <a:solidFill>
                  <a:srgbClr val="1A6FF4"/>
                </a:solidFill>
              </a:rPr>
              <a:t> </a:t>
            </a:r>
            <a:r>
              <a:rPr lang="en-US" sz="2800" b="1" kern="0" spc="-100" dirty="0" err="1">
                <a:solidFill>
                  <a:srgbClr val="1A6FF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이상</a:t>
            </a:r>
            <a:r>
              <a:rPr lang="en-US" sz="2800" b="1" kern="0" spc="-100" dirty="0">
                <a:solidFill>
                  <a:srgbClr val="1A6FF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 징후 탐지 기술 경량화</a:t>
            </a:r>
            <a:endParaRPr lang="en-US" sz="2800" b="1" dirty="0">
              <a:solidFill>
                <a:srgbClr val="1A6FF4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2697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6FF4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원본 데이터 학습 및 성능 개선 결과</a:t>
            </a:r>
            <a:endParaRPr lang="en-US" sz="1600" dirty="0">
              <a:solidFill>
                <a:srgbClr val="1A6FF4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3383280" y="4069080"/>
            <a:ext cx="237744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100" dirty="0">
                <a:solidFill>
                  <a:srgbClr val="888888"/>
                </a:solidFill>
                <a:latin typeface="Pretendard Regular" pitchFamily="34" charset="0"/>
                <a:ea typeface="Pretendard Regular" pitchFamily="34" charset="-122"/>
                <a:cs typeface="Pretendard Regular" pitchFamily="34" charset="-120"/>
              </a:rPr>
              <a:t>7조   ·   C321027 박세진   ·   C321028 박솔</a:t>
            </a:r>
            <a:endParaRPr lang="en-US" sz="12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2161B4E-E1A0-BA4D-96FC-65632A0005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7897" y="3373595"/>
            <a:ext cx="2564873" cy="153892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1C4ABD-980C-5C45-E649-C82E60FD1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A07BF0C-A586-075F-9DF2-8692F7EDAF60}"/>
              </a:ext>
            </a:extLst>
          </p:cNvPr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88888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PROJECT BACKGROUND</a:t>
            </a:r>
            <a:endParaRPr lang="en-US" sz="9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0C3690D-A46A-B26E-BEFA-9AB8D9232237}"/>
              </a:ext>
            </a:extLst>
          </p:cNvPr>
          <p:cNvSpPr/>
          <p:nvPr/>
        </p:nvSpPr>
        <p:spPr>
          <a:xfrm>
            <a:off x="457200" y="5669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연구배경</a:t>
            </a:r>
            <a:endParaRPr lang="en-US" sz="2400" dirty="0"/>
          </a:p>
        </p:txBody>
      </p:sp>
      <p:sp>
        <p:nvSpPr>
          <p:cNvPr id="27" name="Text 2">
            <a:extLst>
              <a:ext uri="{FF2B5EF4-FFF2-40B4-BE49-F238E27FC236}">
                <a16:creationId xmlns:a16="http://schemas.microsoft.com/office/drawing/2014/main" id="{2EEB5A0F-92E0-ED5B-DB9C-39106F18824F}"/>
              </a:ext>
            </a:extLst>
          </p:cNvPr>
          <p:cNvSpPr/>
          <p:nvPr/>
        </p:nvSpPr>
        <p:spPr>
          <a:xfrm>
            <a:off x="640080" y="1115568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전기차 시장의 성장</a:t>
            </a:r>
            <a:endParaRPr lang="en-US" sz="1400" dirty="0"/>
          </a:p>
        </p:txBody>
      </p:sp>
      <p:sp>
        <p:nvSpPr>
          <p:cNvPr id="28" name="Text 3">
            <a:extLst>
              <a:ext uri="{FF2B5EF4-FFF2-40B4-BE49-F238E27FC236}">
                <a16:creationId xmlns:a16="http://schemas.microsoft.com/office/drawing/2014/main" id="{824F0D32-9194-7FDF-A6B5-1395085BD903}"/>
              </a:ext>
            </a:extLst>
          </p:cNvPr>
          <p:cNvSpPr/>
          <p:nvPr/>
        </p:nvSpPr>
        <p:spPr>
          <a:xfrm>
            <a:off x="640080" y="1499616"/>
            <a:ext cx="2057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7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글로벌 전기차 보급률이 빠르게</a:t>
            </a:r>
            <a:endParaRPr lang="en-US" sz="1170" dirty="0"/>
          </a:p>
          <a:p>
            <a:pPr marL="0" indent="0" algn="ctr">
              <a:buNone/>
            </a:pPr>
            <a:r>
              <a:rPr lang="en-US" sz="117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증가하며, 차량 안전성과 신뢰성에</a:t>
            </a:r>
            <a:endParaRPr lang="en-US" sz="1170" dirty="0"/>
          </a:p>
          <a:p>
            <a:pPr marL="0" indent="0" algn="ctr">
              <a:buNone/>
            </a:pPr>
            <a:r>
              <a:rPr lang="en-US" sz="117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대한 요구가 높아지고 있다.</a:t>
            </a:r>
            <a:endParaRPr lang="en-US" sz="1170" dirty="0"/>
          </a:p>
        </p:txBody>
      </p:sp>
      <p:sp>
        <p:nvSpPr>
          <p:cNvPr id="29" name="Text 4">
            <a:extLst>
              <a:ext uri="{FF2B5EF4-FFF2-40B4-BE49-F238E27FC236}">
                <a16:creationId xmlns:a16="http://schemas.microsoft.com/office/drawing/2014/main" id="{C09B154C-5F3E-1758-B4B9-169A1F88A167}"/>
              </a:ext>
            </a:extLst>
          </p:cNvPr>
          <p:cNvSpPr/>
          <p:nvPr/>
        </p:nvSpPr>
        <p:spPr>
          <a:xfrm>
            <a:off x="3246120" y="1115568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자율주행 기술의 고도화</a:t>
            </a:r>
            <a:endParaRPr lang="en-US" sz="1400" dirty="0"/>
          </a:p>
        </p:txBody>
      </p:sp>
      <p:sp>
        <p:nvSpPr>
          <p:cNvPr id="30" name="Text 5">
            <a:extLst>
              <a:ext uri="{FF2B5EF4-FFF2-40B4-BE49-F238E27FC236}">
                <a16:creationId xmlns:a16="http://schemas.microsoft.com/office/drawing/2014/main" id="{791B0DD9-6034-98F0-31D6-095E5A93C950}"/>
              </a:ext>
            </a:extLst>
          </p:cNvPr>
          <p:cNvSpPr/>
          <p:nvPr/>
        </p:nvSpPr>
        <p:spPr>
          <a:xfrm>
            <a:off x="3246120" y="1499616"/>
            <a:ext cx="2057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17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자율주행 시스템은 모터·배터리의</a:t>
            </a:r>
            <a:endParaRPr lang="en-US" sz="1170" dirty="0"/>
          </a:p>
          <a:p>
            <a:pPr marL="0" indent="0" algn="ctr">
              <a:buNone/>
            </a:pPr>
            <a:r>
              <a:rPr lang="en-US" sz="117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정밀한 상태 모니터링 없이는 안전한</a:t>
            </a:r>
            <a:endParaRPr lang="en-US" sz="1170" dirty="0"/>
          </a:p>
          <a:p>
            <a:pPr marL="0" indent="0" algn="ctr">
              <a:buNone/>
            </a:pPr>
            <a:r>
              <a:rPr lang="en-US" sz="117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운행을 보장할 수 없다.</a:t>
            </a:r>
            <a:endParaRPr lang="en-US" sz="1170" dirty="0"/>
          </a:p>
        </p:txBody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818D10CB-2A77-0D78-B954-F62CF06A5900}"/>
              </a:ext>
            </a:extLst>
          </p:cNvPr>
          <p:cNvSpPr/>
          <p:nvPr/>
        </p:nvSpPr>
        <p:spPr>
          <a:xfrm>
            <a:off x="6355080" y="1115568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예지 보전의 필요성</a:t>
            </a:r>
            <a:endParaRPr lang="en-US" sz="1400" dirty="0"/>
          </a:p>
        </p:txBody>
      </p:sp>
      <p:sp>
        <p:nvSpPr>
          <p:cNvPr id="32" name="Text 7">
            <a:extLst>
              <a:ext uri="{FF2B5EF4-FFF2-40B4-BE49-F238E27FC236}">
                <a16:creationId xmlns:a16="http://schemas.microsoft.com/office/drawing/2014/main" id="{943D766C-CFE3-40CF-D09D-7A3A80A83D87}"/>
              </a:ext>
            </a:extLst>
          </p:cNvPr>
          <p:cNvSpPr/>
          <p:nvPr/>
        </p:nvSpPr>
        <p:spPr>
          <a:xfrm>
            <a:off x="6355080" y="1499616"/>
            <a:ext cx="2057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7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미세 결함을 사전에 감지하는 예지</a:t>
            </a:r>
            <a:endParaRPr lang="en-US" sz="1170" dirty="0"/>
          </a:p>
          <a:p>
            <a:pPr marL="0" indent="0" algn="ctr">
              <a:buNone/>
            </a:pPr>
            <a:r>
              <a:rPr lang="en-US" sz="117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보전 기술은 사고 예방과 유지보수</a:t>
            </a:r>
            <a:endParaRPr lang="en-US" sz="1170" dirty="0"/>
          </a:p>
          <a:p>
            <a:pPr marL="0" indent="0" algn="ctr">
              <a:buNone/>
            </a:pPr>
            <a:r>
              <a:rPr lang="en-US" sz="117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 절감에 직결된다.</a:t>
            </a:r>
            <a:endParaRPr lang="en-US" sz="1170" dirty="0"/>
          </a:p>
        </p:txBody>
      </p:sp>
      <p:sp>
        <p:nvSpPr>
          <p:cNvPr id="33" name="Shape 8">
            <a:extLst>
              <a:ext uri="{FF2B5EF4-FFF2-40B4-BE49-F238E27FC236}">
                <a16:creationId xmlns:a16="http://schemas.microsoft.com/office/drawing/2014/main" id="{279B0021-857D-10CA-E7E1-7F73627DE47A}"/>
              </a:ext>
            </a:extLst>
          </p:cNvPr>
          <p:cNvSpPr/>
          <p:nvPr/>
        </p:nvSpPr>
        <p:spPr>
          <a:xfrm>
            <a:off x="36576" y="2638044"/>
            <a:ext cx="8887968" cy="0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9">
            <a:extLst>
              <a:ext uri="{FF2B5EF4-FFF2-40B4-BE49-F238E27FC236}">
                <a16:creationId xmlns:a16="http://schemas.microsoft.com/office/drawing/2014/main" id="{960D7271-C244-0D65-BB9E-3E5F0FF3A670}"/>
              </a:ext>
            </a:extLst>
          </p:cNvPr>
          <p:cNvSpPr/>
          <p:nvPr/>
        </p:nvSpPr>
        <p:spPr>
          <a:xfrm>
            <a:off x="2880360" y="294436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6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활발한 AI기반 전기차 이상 탐지 기술 연구</a:t>
            </a:r>
            <a:endParaRPr lang="en-US" sz="1360" dirty="0"/>
          </a:p>
        </p:txBody>
      </p:sp>
      <p:sp>
        <p:nvSpPr>
          <p:cNvPr id="40" name="Shape 15">
            <a:extLst>
              <a:ext uri="{FF2B5EF4-FFF2-40B4-BE49-F238E27FC236}">
                <a16:creationId xmlns:a16="http://schemas.microsoft.com/office/drawing/2014/main" id="{0B172E0B-3A99-0B67-BA88-53D99DB4D2AD}"/>
              </a:ext>
            </a:extLst>
          </p:cNvPr>
          <p:cNvSpPr/>
          <p:nvPr/>
        </p:nvSpPr>
        <p:spPr>
          <a:xfrm>
            <a:off x="3594100" y="4221480"/>
            <a:ext cx="2148840" cy="182880"/>
          </a:xfrm>
          <a:prstGeom prst="rect">
            <a:avLst/>
          </a:prstGeom>
          <a:solidFill>
            <a:srgbClr val="F6D84B"/>
          </a:solidFill>
          <a:ln w="12700">
            <a:solidFill>
              <a:srgbClr val="F6D8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16">
            <a:extLst>
              <a:ext uri="{FF2B5EF4-FFF2-40B4-BE49-F238E27FC236}">
                <a16:creationId xmlns:a16="http://schemas.microsoft.com/office/drawing/2014/main" id="{E0635D0A-968F-58BF-4C4E-249A740714D9}"/>
              </a:ext>
            </a:extLst>
          </p:cNvPr>
          <p:cNvSpPr/>
          <p:nvPr/>
        </p:nvSpPr>
        <p:spPr>
          <a:xfrm>
            <a:off x="1927565" y="3928872"/>
            <a:ext cx="5577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19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한국교통안전공단은 운전자에 맞춤형 배터리 성능 정보를 제공하고, 전기차 안전성 </a:t>
            </a:r>
            <a:r>
              <a:rPr lang="en-US" sz="1190" b="1" dirty="0" err="1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확보와</a:t>
            </a:r>
            <a:r>
              <a:rPr lang="en-US" sz="119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</a:p>
          <a:p>
            <a:pPr marL="0" indent="0" algn="ctr">
              <a:buNone/>
            </a:pPr>
            <a:endParaRPr lang="en-US" sz="1190" dirty="0"/>
          </a:p>
          <a:p>
            <a:pPr marL="0" indent="0" algn="ctr">
              <a:buNone/>
            </a:pPr>
            <a:r>
              <a:rPr lang="ko-KR" altLang="en-US" sz="119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</a:t>
            </a:r>
            <a:r>
              <a:rPr lang="en-US" sz="1190" b="1" dirty="0" err="1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원순환에도</a:t>
            </a:r>
            <a:r>
              <a:rPr lang="en-US" sz="119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기여하는 AI기반 전기차 배터리 관리체계 마련을 본격 </a:t>
            </a:r>
            <a:r>
              <a:rPr lang="en-US" sz="1190" b="1" dirty="0" err="1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추진한다고</a:t>
            </a:r>
            <a:r>
              <a:rPr lang="en-US" sz="119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90" b="1" dirty="0" err="1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밝혔다</a:t>
            </a:r>
            <a:r>
              <a:rPr lang="en-US" sz="119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190" dirty="0"/>
          </a:p>
        </p:txBody>
      </p:sp>
      <p:sp>
        <p:nvSpPr>
          <p:cNvPr id="42" name="Text 17">
            <a:extLst>
              <a:ext uri="{FF2B5EF4-FFF2-40B4-BE49-F238E27FC236}">
                <a16:creationId xmlns:a16="http://schemas.microsoft.com/office/drawing/2014/main" id="{8C2717DE-458E-62E9-7F0D-48BA320313A3}"/>
              </a:ext>
            </a:extLst>
          </p:cNvPr>
          <p:cNvSpPr/>
          <p:nvPr/>
        </p:nvSpPr>
        <p:spPr>
          <a:xfrm>
            <a:off x="1836420" y="4753382"/>
            <a:ext cx="5471160" cy="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한국교통안전공단, 「TS, AI 기술로 전기차 배터리 관리 효율성 높인다」, 2025. 08. 12.</a:t>
            </a:r>
            <a:endParaRPr lang="en-US" sz="1000" dirty="0"/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008A7604-83E1-F2BB-E81F-EB1A94C82C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4100" y="3162744"/>
            <a:ext cx="2244770" cy="6960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5159B67-3A55-A73C-E9BF-76BBFFAF751B}"/>
              </a:ext>
            </a:extLst>
          </p:cNvPr>
          <p:cNvSpPr txBox="1"/>
          <p:nvPr/>
        </p:nvSpPr>
        <p:spPr>
          <a:xfrm>
            <a:off x="8750105" y="4790049"/>
            <a:ext cx="2826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67831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5669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Graphical Abstract – 2</a:t>
            </a:r>
            <a:r>
              <a:rPr lang="ko-KR" altLang="en-US" sz="2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차 발표</a:t>
            </a:r>
            <a:r>
              <a:rPr lang="en-US" altLang="ko-KR" sz="2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(Pilot Test)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55555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샘플 데이터로 파이프라인 전 과정 검증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B2C8910F-F274-768F-AB78-4C5528684F97}"/>
              </a:ext>
            </a:extLst>
          </p:cNvPr>
          <p:cNvGrpSpPr/>
          <p:nvPr/>
        </p:nvGrpSpPr>
        <p:grpSpPr>
          <a:xfrm>
            <a:off x="3007966" y="3941064"/>
            <a:ext cx="3214116" cy="713232"/>
            <a:chOff x="4558284" y="299508"/>
            <a:chExt cx="3214116" cy="713232"/>
          </a:xfrm>
        </p:grpSpPr>
        <p:sp>
          <p:nvSpPr>
            <p:cNvPr id="31" name="Shape 26"/>
            <p:cNvSpPr/>
            <p:nvPr/>
          </p:nvSpPr>
          <p:spPr>
            <a:xfrm>
              <a:off x="4558284" y="320040"/>
              <a:ext cx="3214116" cy="692700"/>
            </a:xfrm>
            <a:prstGeom prst="roundRect">
              <a:avLst>
                <a:gd name="adj" fmla="val 7273"/>
              </a:avLst>
            </a:prstGeom>
            <a:solidFill>
              <a:srgbClr val="EAF1FE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32" name="Image 3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59452" y="500676"/>
              <a:ext cx="310896" cy="310896"/>
            </a:xfrm>
            <a:prstGeom prst="rect">
              <a:avLst/>
            </a:prstGeom>
          </p:spPr>
        </p:pic>
        <p:sp>
          <p:nvSpPr>
            <p:cNvPr id="33" name="Text 27"/>
            <p:cNvSpPr/>
            <p:nvPr/>
          </p:nvSpPr>
          <p:spPr>
            <a:xfrm>
              <a:off x="5198364" y="299508"/>
              <a:ext cx="2405224" cy="7132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1300" dirty="0">
                  <a:solidFill>
                    <a:srgbClr val="111111"/>
                  </a:solidFill>
                  <a:latin typeface="Pretendard SemiBold" pitchFamily="34" charset="0"/>
                  <a:ea typeface="Pretendard SemiBold" pitchFamily="34" charset="-122"/>
                  <a:cs typeface="Pretendard SemiBold" pitchFamily="34" charset="-120"/>
                </a:rPr>
                <a:t>파이프라인 전 과정 동작 확인 완료</a:t>
              </a:r>
              <a:endParaRPr lang="en-US" sz="1300" dirty="0"/>
            </a:p>
            <a:p>
              <a:pPr marL="0" indent="0">
                <a:lnSpc>
                  <a:spcPct val="115000"/>
                </a:lnSpc>
                <a:buNone/>
              </a:pPr>
              <a:r>
                <a:rPr lang="en-US" sz="1100" dirty="0">
                  <a:solidFill>
                    <a:srgbClr val="1A6FF4"/>
                  </a:solidFill>
                  <a:latin typeface="Pretendard Medium" pitchFamily="34" charset="0"/>
                  <a:ea typeface="Pretendard Medium" pitchFamily="34" charset="-122"/>
                  <a:cs typeface="Pretendard Medium" pitchFamily="34" charset="-120"/>
                </a:rPr>
                <a:t>→ 본 데이터(</a:t>
              </a:r>
              <a:r>
                <a:rPr lang="en-US" sz="1100" dirty="0" err="1">
                  <a:solidFill>
                    <a:srgbClr val="1A6FF4"/>
                  </a:solidFill>
                  <a:latin typeface="Pretendard Medium" pitchFamily="34" charset="0"/>
                  <a:ea typeface="Pretendard Medium" pitchFamily="34" charset="-122"/>
                  <a:cs typeface="Pretendard Medium" pitchFamily="34" charset="-120"/>
                </a:rPr>
                <a:t>원본</a:t>
              </a:r>
              <a:r>
                <a:rPr lang="en-US" sz="1100" dirty="0">
                  <a:solidFill>
                    <a:srgbClr val="1A6FF4"/>
                  </a:solidFill>
                  <a:latin typeface="Pretendard Medium" pitchFamily="34" charset="0"/>
                  <a:ea typeface="Pretendard Medium" pitchFamily="34" charset="-122"/>
                  <a:cs typeface="Pretendard Medium" pitchFamily="34" charset="-120"/>
                </a:rPr>
                <a:t> 1.15TB)로 확장</a:t>
              </a:r>
              <a:endParaRPr lang="en-US" sz="1300" dirty="0"/>
            </a:p>
          </p:txBody>
        </p:sp>
      </p:grpSp>
      <p:pic>
        <p:nvPicPr>
          <p:cNvPr id="34" name="그림 33">
            <a:extLst>
              <a:ext uri="{FF2B5EF4-FFF2-40B4-BE49-F238E27FC236}">
                <a16:creationId xmlns:a16="http://schemas.microsoft.com/office/drawing/2014/main" id="{A260A562-9436-1378-7276-4972E0EBF1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978" y="1901256"/>
            <a:ext cx="7906043" cy="1537582"/>
          </a:xfrm>
          <a:prstGeom prst="rect">
            <a:avLst/>
          </a:prstGeom>
        </p:spPr>
      </p:pic>
      <p:sp>
        <p:nvSpPr>
          <p:cNvPr id="36" name="Text 0">
            <a:extLst>
              <a:ext uri="{FF2B5EF4-FFF2-40B4-BE49-F238E27FC236}">
                <a16:creationId xmlns:a16="http://schemas.microsoft.com/office/drawing/2014/main" id="{93B3E43D-B7B8-8749-379D-D9AB6DAAC5B4}"/>
              </a:ext>
            </a:extLst>
          </p:cNvPr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88888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OVERVIEW</a:t>
            </a:r>
            <a:endParaRPr lang="en-US" sz="9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91E822-B831-5947-1BE9-C4F2AD488677}"/>
              </a:ext>
            </a:extLst>
          </p:cNvPr>
          <p:cNvSpPr txBox="1"/>
          <p:nvPr/>
        </p:nvSpPr>
        <p:spPr>
          <a:xfrm>
            <a:off x="8750105" y="4790049"/>
            <a:ext cx="2826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</a:t>
            </a:r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88888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OVERVIEW</a:t>
            </a:r>
            <a:endParaRPr lang="en-US" sz="900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0C749C83-9595-3337-BDE9-BC5F66E8EA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" y="3382350"/>
            <a:ext cx="8859520" cy="1357656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087192D4-C002-88CC-0658-38A7741F0C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4758" y="1441470"/>
            <a:ext cx="4305300" cy="1733851"/>
          </a:xfrm>
          <a:prstGeom prst="rect">
            <a:avLst/>
          </a:prstGeom>
        </p:spPr>
      </p:pic>
      <p:sp>
        <p:nvSpPr>
          <p:cNvPr id="27" name="Text 1">
            <a:extLst>
              <a:ext uri="{FF2B5EF4-FFF2-40B4-BE49-F238E27FC236}">
                <a16:creationId xmlns:a16="http://schemas.microsoft.com/office/drawing/2014/main" id="{81AD2C5D-A1CF-06F5-313A-F273D6ABB062}"/>
              </a:ext>
            </a:extLst>
          </p:cNvPr>
          <p:cNvSpPr/>
          <p:nvPr/>
        </p:nvSpPr>
        <p:spPr>
          <a:xfrm>
            <a:off x="457200" y="5669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Graphical Abstract – 2</a:t>
            </a:r>
            <a:r>
              <a:rPr lang="ko-KR" altLang="en-US" sz="2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차 발표 이후</a:t>
            </a:r>
            <a:endParaRPr lang="en-US" sz="2400" dirty="0"/>
          </a:p>
        </p:txBody>
      </p:sp>
      <p:sp>
        <p:nvSpPr>
          <p:cNvPr id="29" name="Text 2">
            <a:extLst>
              <a:ext uri="{FF2B5EF4-FFF2-40B4-BE49-F238E27FC236}">
                <a16:creationId xmlns:a16="http://schemas.microsoft.com/office/drawing/2014/main" id="{0586B897-8127-AB44-1DCD-71849F0C1332}"/>
              </a:ext>
            </a:extLst>
          </p:cNvPr>
          <p:cNvSpPr/>
          <p:nvPr/>
        </p:nvSpPr>
        <p:spPr>
          <a:xfrm>
            <a:off x="457200" y="960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600" dirty="0">
                <a:solidFill>
                  <a:srgbClr val="555555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원본 데이터로 본격 학습</a:t>
            </a:r>
            <a:endParaRPr lang="en-US" sz="1600" dirty="0"/>
          </a:p>
        </p:txBody>
      </p:sp>
      <p:sp>
        <p:nvSpPr>
          <p:cNvPr id="30" name="Shape 3">
            <a:extLst>
              <a:ext uri="{FF2B5EF4-FFF2-40B4-BE49-F238E27FC236}">
                <a16:creationId xmlns:a16="http://schemas.microsoft.com/office/drawing/2014/main" id="{F6B76D2B-CD24-E6A1-BA38-0467440CBBB0}"/>
              </a:ext>
            </a:extLst>
          </p:cNvPr>
          <p:cNvSpPr/>
          <p:nvPr/>
        </p:nvSpPr>
        <p:spPr>
          <a:xfrm>
            <a:off x="457200" y="123444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A1FDA9-40AA-32DE-2F69-11217D9F8B11}"/>
              </a:ext>
            </a:extLst>
          </p:cNvPr>
          <p:cNvSpPr txBox="1"/>
          <p:nvPr/>
        </p:nvSpPr>
        <p:spPr>
          <a:xfrm>
            <a:off x="8750105" y="4790049"/>
            <a:ext cx="2826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</a:t>
            </a:r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88888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DATA PIPELINE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 err="1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원본</a:t>
            </a:r>
            <a:r>
              <a:rPr lang="en-US" sz="2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 </a:t>
            </a:r>
            <a:r>
              <a:rPr lang="ko-KR" altLang="en-US" sz="2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데이터 경량화 결과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992476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CE80778B-CC7A-EB1C-B94C-CFEB5B2B84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" b="52003"/>
          <a:stretch>
            <a:fillRect/>
          </a:stretch>
        </p:blipFill>
        <p:spPr>
          <a:xfrm>
            <a:off x="791894" y="1595980"/>
            <a:ext cx="2897944" cy="1826449"/>
          </a:xfrm>
          <a:prstGeom prst="rect">
            <a:avLst/>
          </a:prstGeom>
          <a:ln w="19050">
            <a:solidFill>
              <a:srgbClr val="1A6FF4"/>
            </a:solidFill>
          </a:ln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0F2F48DD-99BC-2077-742A-C7A2021CE22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2225"/>
          <a:stretch>
            <a:fillRect/>
          </a:stretch>
        </p:blipFill>
        <p:spPr>
          <a:xfrm>
            <a:off x="5292296" y="1595980"/>
            <a:ext cx="2941876" cy="1826449"/>
          </a:xfrm>
          <a:prstGeom prst="rect">
            <a:avLst/>
          </a:prstGeom>
          <a:ln w="19050">
            <a:solidFill>
              <a:srgbClr val="1A6FF4"/>
            </a:solidFill>
          </a:ln>
        </p:spPr>
      </p:pic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116158FA-1D9A-0FB0-1D9C-B32AC73DA2EC}"/>
              </a:ext>
            </a:extLst>
          </p:cNvPr>
          <p:cNvSpPr/>
          <p:nvPr/>
        </p:nvSpPr>
        <p:spPr>
          <a:xfrm>
            <a:off x="3918515" y="3804830"/>
            <a:ext cx="1273749" cy="692388"/>
          </a:xfrm>
          <a:prstGeom prst="rightArrow">
            <a:avLst/>
          </a:prstGeom>
          <a:solidFill>
            <a:srgbClr val="1A6FF4"/>
          </a:solidFill>
          <a:ln>
            <a:solidFill>
              <a:srgbClr val="1A6F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90.7% </a:t>
            </a:r>
            <a:r>
              <a:rPr lang="ko-KR" altLang="en-US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감소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FD63E0A-007F-8F11-219B-74805140AD7E}"/>
              </a:ext>
            </a:extLst>
          </p:cNvPr>
          <p:cNvSpPr/>
          <p:nvPr/>
        </p:nvSpPr>
        <p:spPr>
          <a:xfrm>
            <a:off x="5947894" y="2903514"/>
            <a:ext cx="1630680" cy="23622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2C125AD3-B812-D4E0-E576-FCEA89927D48}"/>
              </a:ext>
            </a:extLst>
          </p:cNvPr>
          <p:cNvSpPr/>
          <p:nvPr/>
        </p:nvSpPr>
        <p:spPr>
          <a:xfrm>
            <a:off x="1425526" y="2903514"/>
            <a:ext cx="1630680" cy="23622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2" name="Shape 22">
            <a:extLst>
              <a:ext uri="{FF2B5EF4-FFF2-40B4-BE49-F238E27FC236}">
                <a16:creationId xmlns:a16="http://schemas.microsoft.com/office/drawing/2014/main" id="{F2F234F1-AA53-39C4-575E-366E64964017}"/>
              </a:ext>
            </a:extLst>
          </p:cNvPr>
          <p:cNvSpPr/>
          <p:nvPr/>
        </p:nvSpPr>
        <p:spPr>
          <a:xfrm>
            <a:off x="1425526" y="3547520"/>
            <a:ext cx="1737360" cy="1207008"/>
          </a:xfrm>
          <a:prstGeom prst="roundRect">
            <a:avLst>
              <a:gd name="adj" fmla="val 9091"/>
            </a:avLst>
          </a:prstGeom>
          <a:solidFill>
            <a:srgbClr val="1A6F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3">
            <a:extLst>
              <a:ext uri="{FF2B5EF4-FFF2-40B4-BE49-F238E27FC236}">
                <a16:creationId xmlns:a16="http://schemas.microsoft.com/office/drawing/2014/main" id="{C97E80CB-C709-2B8F-32D0-6D78593FCF30}"/>
              </a:ext>
            </a:extLst>
          </p:cNvPr>
          <p:cNvSpPr/>
          <p:nvPr/>
        </p:nvSpPr>
        <p:spPr>
          <a:xfrm>
            <a:off x="1425526" y="3693824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1.15 TB</a:t>
            </a:r>
            <a:endParaRPr lang="en-US" sz="2800" dirty="0"/>
          </a:p>
        </p:txBody>
      </p:sp>
      <p:sp>
        <p:nvSpPr>
          <p:cNvPr id="34" name="Shape 22">
            <a:extLst>
              <a:ext uri="{FF2B5EF4-FFF2-40B4-BE49-F238E27FC236}">
                <a16:creationId xmlns:a16="http://schemas.microsoft.com/office/drawing/2014/main" id="{3D3F2DFC-6C80-3974-FB19-1A2CCDB0A2D9}"/>
              </a:ext>
            </a:extLst>
          </p:cNvPr>
          <p:cNvSpPr/>
          <p:nvPr/>
        </p:nvSpPr>
        <p:spPr>
          <a:xfrm>
            <a:off x="5947894" y="3547520"/>
            <a:ext cx="1737360" cy="1207008"/>
          </a:xfrm>
          <a:prstGeom prst="roundRect">
            <a:avLst>
              <a:gd name="adj" fmla="val 9091"/>
            </a:avLst>
          </a:prstGeom>
          <a:solidFill>
            <a:srgbClr val="1A6F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23">
            <a:extLst>
              <a:ext uri="{FF2B5EF4-FFF2-40B4-BE49-F238E27FC236}">
                <a16:creationId xmlns:a16="http://schemas.microsoft.com/office/drawing/2014/main" id="{0944F08A-0A51-5067-08C3-570D305263DB}"/>
              </a:ext>
            </a:extLst>
          </p:cNvPr>
          <p:cNvSpPr/>
          <p:nvPr/>
        </p:nvSpPr>
        <p:spPr>
          <a:xfrm>
            <a:off x="5947894" y="3693824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107 GB</a:t>
            </a:r>
            <a:endParaRPr lang="en-US" sz="2800" dirty="0"/>
          </a:p>
        </p:txBody>
      </p:sp>
      <p:sp>
        <p:nvSpPr>
          <p:cNvPr id="36" name="Text 12">
            <a:extLst>
              <a:ext uri="{FF2B5EF4-FFF2-40B4-BE49-F238E27FC236}">
                <a16:creationId xmlns:a16="http://schemas.microsoft.com/office/drawing/2014/main" id="{792E7C92-0185-A9B1-1EC4-B841CB2AD208}"/>
              </a:ext>
            </a:extLst>
          </p:cNvPr>
          <p:cNvSpPr/>
          <p:nvPr/>
        </p:nvSpPr>
        <p:spPr>
          <a:xfrm>
            <a:off x="1855709" y="1197369"/>
            <a:ext cx="770314" cy="302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50" dirty="0">
                <a:solidFill>
                  <a:srgbClr val="1A6FF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원본</a:t>
            </a:r>
            <a:r>
              <a:rPr lang="en-US" altLang="ko-KR" sz="1050" dirty="0">
                <a:solidFill>
                  <a:srgbClr val="1A6FF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(PNG)</a:t>
            </a:r>
            <a:endParaRPr lang="en-US" sz="1050" dirty="0">
              <a:solidFill>
                <a:srgbClr val="1A6FF4"/>
              </a:solidFill>
            </a:endParaRPr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9E7E519E-D1FC-88C5-1999-9D65B83F331B}"/>
              </a:ext>
            </a:extLst>
          </p:cNvPr>
          <p:cNvSpPr/>
          <p:nvPr/>
        </p:nvSpPr>
        <p:spPr>
          <a:xfrm>
            <a:off x="6378077" y="1198726"/>
            <a:ext cx="770314" cy="302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50" dirty="0">
                <a:solidFill>
                  <a:srgbClr val="1A6FF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경량화</a:t>
            </a:r>
            <a:r>
              <a:rPr lang="en-US" altLang="ko-KR" sz="1050" dirty="0">
                <a:solidFill>
                  <a:srgbClr val="1A6FF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(CSV)</a:t>
            </a:r>
            <a:endParaRPr lang="en-US" sz="1050" dirty="0">
              <a:solidFill>
                <a:srgbClr val="1A6FF4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B0616B-213E-4391-B167-51E8FF7B4C03}"/>
              </a:ext>
            </a:extLst>
          </p:cNvPr>
          <p:cNvSpPr txBox="1"/>
          <p:nvPr/>
        </p:nvSpPr>
        <p:spPr>
          <a:xfrm>
            <a:off x="8750105" y="4790049"/>
            <a:ext cx="2826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4</a:t>
            </a:r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88888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BASELINE MODEL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기준 모델 — 센서별 9슬롯 학습 결과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55555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차종 3 × 센서 3 = 9개 독립 모델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57200" y="1909385"/>
            <a:ext cx="3389376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76656" y="2092265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학습 구조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6656" y="2421449"/>
            <a:ext cx="34930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Pretendard Regular" pitchFamily="34" charset="0"/>
                <a:ea typeface="Pretendard Regular" pitchFamily="34" charset="-122"/>
                <a:cs typeface="Pretendard Regular" pitchFamily="34" charset="-120"/>
              </a:rPr>
              <a:t>9개 슬롯 각각 독립 모델 학습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Pretendard Regular" pitchFamily="34" charset="0"/>
                <a:ea typeface="Pretendard Regular" pitchFamily="34" charset="-122"/>
                <a:cs typeface="Pretendard Regular" pitchFamily="34" charset="-120"/>
              </a:rPr>
              <a:t>MiniRocketMultivariate → LR (solver: saga)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Pretendard Regular" pitchFamily="34" charset="0"/>
                <a:ea typeface="Pretendard Regular" pitchFamily="34" charset="-122"/>
                <a:cs typeface="Pretendard Regular" pitchFamily="34" charset="-120"/>
              </a:rPr>
              <a:t>StratifiedGroupKFold(3분할) 교차검증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76656" y="3335849"/>
            <a:ext cx="3011027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76656" y="3390713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6FF4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→ </a:t>
            </a:r>
            <a:r>
              <a:rPr lang="en-US" sz="11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차종 3 × 센서 3 = 9개 슬롯</a:t>
            </a:r>
            <a:r>
              <a:rPr lang="en-US" sz="1100" dirty="0">
                <a:solidFill>
                  <a:srgbClr val="555555"/>
                </a:solidFill>
                <a:latin typeface="Pretendard Regular" pitchFamily="34" charset="0"/>
                <a:ea typeface="Pretendard Regular" pitchFamily="34" charset="-122"/>
                <a:cs typeface="Pretendard Regular" pitchFamily="34" charset="-120"/>
              </a:rPr>
              <a:t> (각 독립 학습)</a:t>
            </a:r>
            <a:endParaRPr lang="en-US" sz="1150" dirty="0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BB8B860D-78BA-1141-2D44-EB00E41332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0207" y="1915854"/>
            <a:ext cx="5053303" cy="18558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6D9094D-00EB-FA04-A48B-A92FFC579EA9}"/>
              </a:ext>
            </a:extLst>
          </p:cNvPr>
          <p:cNvSpPr txBox="1"/>
          <p:nvPr/>
        </p:nvSpPr>
        <p:spPr>
          <a:xfrm>
            <a:off x="8750105" y="4790049"/>
            <a:ext cx="2826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5</a:t>
            </a:r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F225D4-C76E-58F9-85BD-B2EA424A9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2AF1A4E-E53A-BBEB-FA51-C0999595B077}"/>
              </a:ext>
            </a:extLst>
          </p:cNvPr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88888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BASELINE MODEL</a:t>
            </a:r>
            <a:endParaRPr lang="en-US" sz="9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871558C-02ED-5BF5-8A34-5DB418EF7B51}"/>
              </a:ext>
            </a:extLst>
          </p:cNvPr>
          <p:cNvSpPr/>
          <p:nvPr/>
        </p:nvSpPr>
        <p:spPr>
          <a:xfrm>
            <a:off x="457200" y="5669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기준 모델 — 센서별 9슬롯 학습 결과</a:t>
            </a:r>
            <a:endParaRPr lang="en-US"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54E2F1B-439B-BCF8-F2DF-1A027BA5F04C}"/>
              </a:ext>
            </a:extLst>
          </p:cNvPr>
          <p:cNvSpPr/>
          <p:nvPr/>
        </p:nvSpPr>
        <p:spPr>
          <a:xfrm>
            <a:off x="457200" y="960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55555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차종 3 × 센서 3 = 9개 독립 모델</a:t>
            </a:r>
            <a:endParaRPr lang="en-US" sz="16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D6EE9C6-AD25-1F2D-50B6-BF999BA83AB8}"/>
              </a:ext>
            </a:extLst>
          </p:cNvPr>
          <p:cNvSpPr/>
          <p:nvPr/>
        </p:nvSpPr>
        <p:spPr>
          <a:xfrm>
            <a:off x="457200" y="123444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F03DC863-05B9-1A08-8CFA-F3B14936E5FC}"/>
              </a:ext>
            </a:extLst>
          </p:cNvPr>
          <p:cNvSpPr/>
          <p:nvPr/>
        </p:nvSpPr>
        <p:spPr>
          <a:xfrm>
            <a:off x="457200" y="3721608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ED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7F06E932-B855-AFFC-0ED6-7AC1B235D06B}"/>
              </a:ext>
            </a:extLst>
          </p:cNvPr>
          <p:cNvSpPr/>
          <p:nvPr/>
        </p:nvSpPr>
        <p:spPr>
          <a:xfrm>
            <a:off x="555674" y="3849624"/>
            <a:ext cx="432581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문제점 — 9슬롯 순차 처리로 약 28시간 소요</a:t>
            </a:r>
            <a:endParaRPr lang="en-US" sz="1350" dirty="0"/>
          </a:p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333333"/>
                </a:solidFill>
                <a:latin typeface="Pretendard Regular" pitchFamily="34" charset="0"/>
                <a:ea typeface="Pretendard Regular" pitchFamily="34" charset="-122"/>
                <a:cs typeface="Pretendard Regular" pitchFamily="34" charset="-120"/>
              </a:rPr>
              <a:t>학습이 너무 오래 걸려 반복 </a:t>
            </a:r>
            <a:r>
              <a:rPr lang="en-US" sz="1100" dirty="0" err="1">
                <a:solidFill>
                  <a:srgbClr val="333333"/>
                </a:solidFill>
                <a:latin typeface="Pretendard Regular" pitchFamily="34" charset="0"/>
                <a:ea typeface="Pretendard Regular" pitchFamily="34" charset="-122"/>
                <a:cs typeface="Pretendard Regular" pitchFamily="34" charset="-120"/>
              </a:rPr>
              <a:t>실험·하이퍼파라미터</a:t>
            </a:r>
            <a:r>
              <a:rPr lang="en-US" sz="1100" dirty="0">
                <a:solidFill>
                  <a:srgbClr val="333333"/>
                </a:solidFill>
                <a:latin typeface="Pretendard Regular" pitchFamily="34" charset="0"/>
                <a:ea typeface="Pretendard Regular" pitchFamily="34" charset="-122"/>
                <a:cs typeface="Pretendard Regular" pitchFamily="34" charset="-120"/>
              </a:rPr>
              <a:t> </a:t>
            </a:r>
            <a:r>
              <a:rPr lang="ko-KR" altLang="en-US" sz="1100" dirty="0">
                <a:solidFill>
                  <a:srgbClr val="333333"/>
                </a:solidFill>
                <a:latin typeface="Pretendard Regular" pitchFamily="34" charset="0"/>
                <a:ea typeface="Pretendard Regular" pitchFamily="34" charset="-122"/>
                <a:cs typeface="Pretendard Regular" pitchFamily="34" charset="-120"/>
              </a:rPr>
              <a:t>탐색이</a:t>
            </a:r>
            <a:r>
              <a:rPr lang="en-US" altLang="ko-KR" sz="1100" dirty="0">
                <a:solidFill>
                  <a:srgbClr val="333333"/>
                </a:solidFill>
                <a:latin typeface="Pretendard Regular" pitchFamily="34" charset="0"/>
                <a:ea typeface="Pretendard Regular" pitchFamily="34" charset="-122"/>
                <a:cs typeface="Pretendard Regular" pitchFamily="34" charset="-120"/>
              </a:rPr>
              <a:t> </a:t>
            </a:r>
            <a:r>
              <a:rPr lang="ko-KR" altLang="en-US" sz="1100" dirty="0">
                <a:solidFill>
                  <a:srgbClr val="333333"/>
                </a:solidFill>
                <a:latin typeface="Pretendard Regular" pitchFamily="34" charset="0"/>
                <a:ea typeface="Pretendard Regular" pitchFamily="34" charset="-122"/>
                <a:cs typeface="Pretendard Regular" pitchFamily="34" charset="-120"/>
              </a:rPr>
              <a:t>어려움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64820" y="1552955"/>
            <a:ext cx="39319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84276" y="1735835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센서별 macro-F1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2298975"/>
              </p:ext>
            </p:extLst>
          </p:nvPr>
        </p:nvGraphicFramePr>
        <p:xfrm>
          <a:off x="684276" y="2083307"/>
          <a:ext cx="3493008" cy="1188720"/>
        </p:xfrm>
        <a:graphic>
          <a:graphicData uri="http://schemas.openxmlformats.org/drawingml/2006/table">
            <a:tbl>
              <a:tblPr/>
              <a:tblGrid>
                <a:gridCol w="1078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6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센서</a:t>
                      </a:r>
                      <a:endParaRPr lang="en-US" sz="95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macro-F1</a:t>
                      </a:r>
                      <a:endParaRPr lang="en-US" sz="95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비고</a:t>
                      </a:r>
                      <a:endParaRPr lang="en-US" sz="95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Vib_Motor</a:t>
                      </a:r>
                      <a:endParaRPr lang="en-US" sz="10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6FF4"/>
                          </a:solidFill>
                          <a:latin typeface="Pretendard Regular" pitchFamily="34" charset="0"/>
                          <a:ea typeface="Pretendard Regular" pitchFamily="34" charset="-122"/>
                          <a:cs typeface="Pretendard Regular" pitchFamily="34" charset="-120"/>
                        </a:rPr>
                        <a:t>0.66~0.79</a:t>
                      </a:r>
                      <a:endParaRPr lang="en-US" sz="1000" dirty="0">
                        <a:latin typeface="Pretendard Regular" charset="0"/>
                        <a:ea typeface="Pretendard Regular" charset="0"/>
                        <a:cs typeface="Pretendard Regula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Pretendard Regular" pitchFamily="34" charset="0"/>
                          <a:ea typeface="Pretendard Regular" pitchFamily="34" charset="-122"/>
                          <a:cs typeface="Pretendard Regular" pitchFamily="34" charset="-120"/>
                        </a:rPr>
                        <a:t>진동 · 구분 유리</a:t>
                      </a:r>
                      <a:endParaRPr lang="en-US" sz="1000" dirty="0">
                        <a:latin typeface="Pretendard Regular" charset="0"/>
                        <a:ea typeface="Pretendard Regular" charset="0"/>
                        <a:cs typeface="Pretendard Regula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Vib_TM</a:t>
                      </a:r>
                      <a:endParaRPr lang="en-US" sz="10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6FF4"/>
                          </a:solidFill>
                          <a:latin typeface="Pretendard Regular" pitchFamily="34" charset="0"/>
                          <a:ea typeface="Pretendard Regular" pitchFamily="34" charset="-122"/>
                          <a:cs typeface="Pretendard Regular" pitchFamily="34" charset="-120"/>
                        </a:rPr>
                        <a:t>0.66~0.79</a:t>
                      </a:r>
                      <a:endParaRPr lang="en-US" sz="1000" dirty="0">
                        <a:latin typeface="Pretendard Regular" charset="0"/>
                        <a:ea typeface="Pretendard Regular" charset="0"/>
                        <a:cs typeface="Pretendard Regula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Pretendard Regular" pitchFamily="34" charset="0"/>
                          <a:ea typeface="Pretendard Regular" pitchFamily="34" charset="-122"/>
                          <a:cs typeface="Pretendard Regular" pitchFamily="34" charset="-120"/>
                        </a:rPr>
                        <a:t>진동 · 구분 유리</a:t>
                      </a:r>
                      <a:endParaRPr lang="en-US" sz="1000" dirty="0">
                        <a:latin typeface="Pretendard Regular" charset="0"/>
                        <a:ea typeface="Pretendard Regular" charset="0"/>
                        <a:cs typeface="Pretendard Regula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Current_U</a:t>
                      </a:r>
                      <a:endParaRPr lang="en-US" sz="10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4D3B"/>
                          </a:solidFill>
                          <a:latin typeface="Pretendard Regular" pitchFamily="34" charset="0"/>
                          <a:ea typeface="Pretendard Regular" pitchFamily="34" charset="-122"/>
                          <a:cs typeface="Pretendard Regular" pitchFamily="34" charset="-120"/>
                        </a:rPr>
                        <a:t>0.49~0.55</a:t>
                      </a:r>
                      <a:endParaRPr lang="en-US" sz="1000" dirty="0">
                        <a:latin typeface="Pretendard Regular" charset="0"/>
                        <a:ea typeface="Pretendard Regular" charset="0"/>
                        <a:cs typeface="Pretendard Regula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Pretendard Regular" pitchFamily="34" charset="0"/>
                          <a:ea typeface="Pretendard Regular" pitchFamily="34" charset="-122"/>
                          <a:cs typeface="Pretendard Regular" pitchFamily="34" charset="-120"/>
                        </a:rPr>
                        <a:t>전류 · 상대적 낮음</a:t>
                      </a:r>
                      <a:endParaRPr lang="en-US" sz="1000" dirty="0">
                        <a:latin typeface="Pretendard Regular" charset="0"/>
                        <a:ea typeface="Pretendard Regular" charset="0"/>
                        <a:cs typeface="Pretendard Regula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0" name="그림 19">
            <a:extLst>
              <a:ext uri="{FF2B5EF4-FFF2-40B4-BE49-F238E27FC236}">
                <a16:creationId xmlns:a16="http://schemas.microsoft.com/office/drawing/2014/main" id="{172C3524-B689-FF35-919B-43CF48BE3D7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4131"/>
          <a:stretch>
            <a:fillRect/>
          </a:stretch>
        </p:blipFill>
        <p:spPr>
          <a:xfrm>
            <a:off x="4768364" y="1243584"/>
            <a:ext cx="3766215" cy="37545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9FCDFBB-4F9A-46E3-C1B3-7EF0853D3B98}"/>
              </a:ext>
            </a:extLst>
          </p:cNvPr>
          <p:cNvSpPr txBox="1"/>
          <p:nvPr/>
        </p:nvSpPr>
        <p:spPr>
          <a:xfrm>
            <a:off x="8750105" y="4790049"/>
            <a:ext cx="2826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6</a:t>
            </a:r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65242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88888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IMPROVEMENT 1 · SPEED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개선 1 — </a:t>
            </a:r>
            <a:r>
              <a:rPr lang="ko-KR" altLang="en-US" sz="2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학습</a:t>
            </a:r>
            <a:r>
              <a:rPr lang="en-US" altLang="ko-KR" sz="2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 </a:t>
            </a:r>
            <a:r>
              <a:rPr lang="ko-KR" altLang="en-US" sz="2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소요시간</a:t>
            </a:r>
            <a:r>
              <a:rPr lang="en-US" altLang="ko-KR" sz="2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 </a:t>
            </a:r>
            <a:r>
              <a:rPr lang="en-US" sz="2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28시간 → 1시간 5</a:t>
            </a:r>
            <a:r>
              <a:rPr lang="en-US" altLang="ko-KR" sz="2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</a:t>
            </a:r>
            <a:r>
              <a:rPr lang="en-US" sz="2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분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1346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57200" y="1164757"/>
            <a:ext cx="25603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58368" y="1365925"/>
            <a:ext cx="420624" cy="420624"/>
          </a:xfrm>
          <a:prstGeom prst="ellipse">
            <a:avLst/>
          </a:prstGeom>
          <a:solidFill>
            <a:srgbClr val="EAF1F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84797"/>
            <a:ext cx="182880" cy="1828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58368" y="1859701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솔버 교체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58368" y="2115733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6FF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saga → lbfgs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58368" y="2353477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ko-KR" altLang="en-US" sz="950" dirty="0"/>
              <a:t>수렴 경고를 해소하고</a:t>
            </a:r>
            <a:endParaRPr lang="en-US" altLang="ko-KR" sz="950" dirty="0"/>
          </a:p>
          <a:p>
            <a:pPr marL="0" indent="0">
              <a:lnSpc>
                <a:spcPct val="108000"/>
              </a:lnSpc>
              <a:buNone/>
            </a:pPr>
            <a:r>
              <a:rPr lang="ko-KR" altLang="en-US" sz="950" dirty="0"/>
              <a:t>고차원 특징 학습 속도 개선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291840" y="1164757"/>
            <a:ext cx="25603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3493008" y="1365925"/>
            <a:ext cx="420624" cy="420624"/>
          </a:xfrm>
          <a:prstGeom prst="ellipse">
            <a:avLst/>
          </a:prstGeom>
          <a:solidFill>
            <a:srgbClr val="EAF1F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1484797"/>
            <a:ext cx="182880" cy="1828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493008" y="1859701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변환 결과 캐싱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3493008" y="2115733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6FF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.npz 캐시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3493008" y="2353477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 err="1">
                <a:solidFill>
                  <a:srgbClr val="555555"/>
                </a:solidFill>
                <a:latin typeface="Pretendard Regular" pitchFamily="34" charset="0"/>
                <a:ea typeface="Pretendard Regular" pitchFamily="34" charset="-122"/>
                <a:cs typeface="Pretendard Regular" pitchFamily="34" charset="-120"/>
              </a:rPr>
              <a:t>MiniRocket</a:t>
            </a:r>
            <a:r>
              <a:rPr lang="en-US" sz="950" dirty="0">
                <a:solidFill>
                  <a:srgbClr val="555555"/>
                </a:solidFill>
                <a:latin typeface="Pretendard Regular" pitchFamily="34" charset="0"/>
                <a:ea typeface="Pretendard Regular" pitchFamily="34" charset="-122"/>
                <a:cs typeface="Pretendard Regular" pitchFamily="34" charset="-120"/>
              </a:rPr>
              <a:t> </a:t>
            </a:r>
            <a:r>
              <a:rPr lang="en-US" sz="950" dirty="0" err="1">
                <a:solidFill>
                  <a:srgbClr val="555555"/>
                </a:solidFill>
                <a:latin typeface="Pretendard Regular" pitchFamily="34" charset="0"/>
                <a:ea typeface="Pretendard Regular" pitchFamily="34" charset="-122"/>
                <a:cs typeface="Pretendard Regular" pitchFamily="34" charset="-120"/>
              </a:rPr>
              <a:t>변환</a:t>
            </a:r>
            <a:r>
              <a:rPr lang="ko-KR" altLang="en-US" sz="950" dirty="0">
                <a:solidFill>
                  <a:srgbClr val="555555"/>
                </a:solidFill>
                <a:latin typeface="Pretendard Regular" pitchFamily="34" charset="0"/>
                <a:ea typeface="Pretendard Regular" pitchFamily="34" charset="-122"/>
                <a:cs typeface="Pretendard Regular" pitchFamily="34" charset="-120"/>
              </a:rPr>
              <a:t> 결과 저장을 통해 재학습시 과정 생략</a:t>
            </a:r>
            <a:endParaRPr lang="en-US" sz="950" dirty="0">
              <a:solidFill>
                <a:srgbClr val="555555"/>
              </a:solidFill>
              <a:latin typeface="Pretendard Regular" pitchFamily="34" charset="0"/>
              <a:ea typeface="Pretendard Regular" pitchFamily="34" charset="-122"/>
              <a:cs typeface="Pretendard Regular" pitchFamily="34" charset="-120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6126480" y="1164757"/>
            <a:ext cx="25603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6327648" y="1365925"/>
            <a:ext cx="420624" cy="420624"/>
          </a:xfrm>
          <a:prstGeom prst="ellipse">
            <a:avLst/>
          </a:prstGeom>
          <a:solidFill>
            <a:srgbClr val="EAF1F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1484797"/>
            <a:ext cx="182880" cy="18288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327648" y="1859701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슬롯 병렬 학습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6327648" y="2115733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6FF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3개씩 병렬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6327648" y="2353477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Pretendard Regular" pitchFamily="34" charset="0"/>
                <a:ea typeface="Pretendard Regular" pitchFamily="34" charset="-122"/>
                <a:cs typeface="Pretendard Regular" pitchFamily="34" charset="-120"/>
              </a:rPr>
              <a:t>내부 n_jobs=1로 </a:t>
            </a:r>
            <a:r>
              <a:rPr lang="en-US" sz="950" dirty="0" err="1">
                <a:solidFill>
                  <a:srgbClr val="555555"/>
                </a:solidFill>
                <a:latin typeface="Pretendard Regular" pitchFamily="34" charset="0"/>
                <a:ea typeface="Pretendard Regular" pitchFamily="34" charset="-122"/>
                <a:cs typeface="Pretendard Regular" pitchFamily="34" charset="-120"/>
              </a:rPr>
              <a:t>제한</a:t>
            </a:r>
            <a:endParaRPr lang="en-US" sz="950" dirty="0">
              <a:solidFill>
                <a:srgbClr val="555555"/>
              </a:solidFill>
              <a:latin typeface="Pretendard Regular" pitchFamily="34" charset="0"/>
              <a:ea typeface="Pretendard Regular" pitchFamily="34" charset="-122"/>
              <a:cs typeface="Pretendard Regular" pitchFamily="34" charset="-120"/>
            </a:endParaRPr>
          </a:p>
          <a:p>
            <a:pPr marL="0" indent="0">
              <a:lnSpc>
                <a:spcPct val="108000"/>
              </a:lnSpc>
              <a:buNone/>
            </a:pPr>
            <a:r>
              <a:rPr lang="ko-KR" altLang="en-US" sz="950" dirty="0" err="1">
                <a:solidFill>
                  <a:srgbClr val="555555"/>
                </a:solidFill>
                <a:latin typeface="Pretendard Regular" pitchFamily="34" charset="0"/>
                <a:ea typeface="Pretendard Regular" pitchFamily="34" charset="-122"/>
                <a:cs typeface="Pretendard Regular" pitchFamily="34" charset="-120"/>
              </a:rPr>
              <a:t>과점유</a:t>
            </a:r>
            <a:r>
              <a:rPr lang="ko-KR" altLang="en-US" sz="950" dirty="0">
                <a:solidFill>
                  <a:srgbClr val="555555"/>
                </a:solidFill>
                <a:latin typeface="Pretendard Regular" pitchFamily="34" charset="0"/>
                <a:ea typeface="Pretendard Regular" pitchFamily="34" charset="-122"/>
                <a:cs typeface="Pretendard Regular" pitchFamily="34" charset="-120"/>
              </a:rPr>
              <a:t> 없이 </a:t>
            </a:r>
            <a:r>
              <a:rPr lang="en-US" altLang="ko-KR" sz="950" dirty="0">
                <a:solidFill>
                  <a:srgbClr val="555555"/>
                </a:solidFill>
                <a:latin typeface="Pretendard Regular" pitchFamily="34" charset="0"/>
                <a:ea typeface="Pretendard Regular" pitchFamily="34" charset="-122"/>
                <a:cs typeface="Pretendard Regular" pitchFamily="34" charset="-120"/>
              </a:rPr>
              <a:t>3</a:t>
            </a:r>
            <a:r>
              <a:rPr lang="ko-KR" altLang="en-US" sz="950" dirty="0">
                <a:solidFill>
                  <a:srgbClr val="555555"/>
                </a:solidFill>
                <a:latin typeface="Pretendard Regular" pitchFamily="34" charset="0"/>
                <a:ea typeface="Pretendard Regular" pitchFamily="34" charset="-122"/>
                <a:cs typeface="Pretendard Regular" pitchFamily="34" charset="-120"/>
              </a:rPr>
              <a:t>슬롯 동시 처리</a:t>
            </a:r>
            <a:endParaRPr lang="en-US" altLang="ko-KR" sz="950" dirty="0">
              <a:solidFill>
                <a:srgbClr val="555555"/>
              </a:solidFill>
              <a:latin typeface="Pretendard Regular" pitchFamily="34" charset="0"/>
              <a:ea typeface="Pretendard Regular" pitchFamily="34" charset="-122"/>
              <a:cs typeface="Pretendard Regular" pitchFamily="34" charset="-120"/>
            </a:endParaRPr>
          </a:p>
        </p:txBody>
      </p:sp>
      <p:sp>
        <p:nvSpPr>
          <p:cNvPr id="28" name="Shape 22"/>
          <p:cNvSpPr/>
          <p:nvPr/>
        </p:nvSpPr>
        <p:spPr>
          <a:xfrm>
            <a:off x="3950208" y="3314700"/>
            <a:ext cx="1737360" cy="1207008"/>
          </a:xfrm>
          <a:prstGeom prst="roundRect">
            <a:avLst>
              <a:gd name="adj" fmla="val 9091"/>
            </a:avLst>
          </a:prstGeom>
          <a:solidFill>
            <a:srgbClr val="1A6F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3"/>
          <p:cNvSpPr/>
          <p:nvPr/>
        </p:nvSpPr>
        <p:spPr>
          <a:xfrm>
            <a:off x="3950208" y="3461004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15×</a:t>
            </a:r>
            <a:endParaRPr lang="en-US" sz="34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속도 향상</a:t>
            </a:r>
            <a:endParaRPr lang="en-US" sz="34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2780548"/>
              </p:ext>
            </p:extLst>
          </p:nvPr>
        </p:nvGraphicFramePr>
        <p:xfrm>
          <a:off x="5870448" y="3332988"/>
          <a:ext cx="2473452" cy="1097280"/>
        </p:xfrm>
        <a:graphic>
          <a:graphicData uri="http://schemas.openxmlformats.org/drawingml/2006/table">
            <a:tbl>
              <a:tblPr/>
              <a:tblGrid>
                <a:gridCol w="803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32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학습 시간</a:t>
                      </a:r>
                      <a:endParaRPr lang="en-US" sz="95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macro-F1</a:t>
                      </a:r>
                      <a:endParaRPr lang="en-US" sz="95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기준 모델</a:t>
                      </a:r>
                      <a:endParaRPr lang="en-US" sz="10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Pretendard Regular" pitchFamily="34" charset="0"/>
                          <a:ea typeface="Pretendard Regular" pitchFamily="34" charset="-122"/>
                          <a:cs typeface="Pretendard Regular" pitchFamily="34" charset="-120"/>
                        </a:rPr>
                        <a:t>약 28시간</a:t>
                      </a:r>
                      <a:endParaRPr lang="en-US" sz="1000" dirty="0">
                        <a:latin typeface="Pretendard Regular" charset="0"/>
                        <a:ea typeface="Pretendard Regular" charset="0"/>
                        <a:cs typeface="Pretendard Regula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Pretendard Regular" pitchFamily="34" charset="0"/>
                          <a:ea typeface="Pretendard Regular" pitchFamily="34" charset="-122"/>
                          <a:cs typeface="Pretendard Regular" pitchFamily="34" charset="-120"/>
                        </a:rPr>
                        <a:t>0.63~0.67</a:t>
                      </a:r>
                      <a:endParaRPr lang="en-US" sz="1000" dirty="0">
                        <a:latin typeface="Pretendard Regular" charset="0"/>
                        <a:ea typeface="Pretendard Regular" charset="0"/>
                        <a:cs typeface="Pretendard Regula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개선 후</a:t>
                      </a:r>
                      <a:endParaRPr lang="en-US" sz="10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6FF4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1시간 5</a:t>
                      </a:r>
                      <a:r>
                        <a:rPr lang="en-US" altLang="ko-KR" sz="1000" dirty="0">
                          <a:solidFill>
                            <a:srgbClr val="1A6FF4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0</a:t>
                      </a:r>
                      <a:r>
                        <a:rPr lang="en-US" sz="1000" dirty="0">
                          <a:solidFill>
                            <a:srgbClr val="1A6FF4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분</a:t>
                      </a:r>
                      <a:endParaRPr lang="en-US" sz="10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동일</a:t>
                      </a:r>
                      <a:endParaRPr lang="en-US" sz="10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27" name="그림 26">
            <a:extLst>
              <a:ext uri="{FF2B5EF4-FFF2-40B4-BE49-F238E27FC236}">
                <a16:creationId xmlns:a16="http://schemas.microsoft.com/office/drawing/2014/main" id="{A2BFE330-0043-C298-FF14-6271E43F002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14184"/>
          <a:stretch>
            <a:fillRect/>
          </a:stretch>
        </p:blipFill>
        <p:spPr>
          <a:xfrm>
            <a:off x="1078992" y="2975269"/>
            <a:ext cx="2148486" cy="196249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989085D-8EFE-EECD-174B-C4C488F34021}"/>
              </a:ext>
            </a:extLst>
          </p:cNvPr>
          <p:cNvSpPr txBox="1"/>
          <p:nvPr/>
        </p:nvSpPr>
        <p:spPr>
          <a:xfrm>
            <a:off x="8750105" y="4790049"/>
            <a:ext cx="2826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7</a:t>
            </a:r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88888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IMPROVEMENT 2 · FUSION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개선 2 — Late Fusion → Early Fusion (12채널)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55555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센서 간 결합 패턴을 한 번에 학습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57200" y="1444752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76656" y="1609344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기존 방식 (Late Fusion)의 한계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76656" y="1956816"/>
            <a:ext cx="3493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55555"/>
                </a:solidFill>
                <a:latin typeface="Pretendard Regular" pitchFamily="34" charset="0"/>
                <a:ea typeface="Pretendard Regular" pitchFamily="34" charset="-122"/>
                <a:cs typeface="Pretendard Regular" pitchFamily="34" charset="-120"/>
              </a:rPr>
              <a:t>센서별로 따로 예측한 뒤 확률을 합산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55555"/>
                </a:solidFill>
                <a:latin typeface="Pretendard Regular" pitchFamily="34" charset="0"/>
                <a:ea typeface="Pretendard Regular" pitchFamily="34" charset="-122"/>
                <a:cs typeface="Pretendard Regular" pitchFamily="34" charset="-120"/>
              </a:rPr>
              <a:t>센서 간 결합 패턴을 활용하지 못함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55555"/>
                </a:solidFill>
                <a:latin typeface="Pretendard Regular" pitchFamily="34" charset="0"/>
                <a:ea typeface="Pretendard Regular" pitchFamily="34" charset="-122"/>
                <a:cs typeface="Pretendard Regular" pitchFamily="34" charset="-120"/>
              </a:rPr>
              <a:t>DEMAG는 진동+전류 조합으로만 구별되는 경우 존재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1444752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EAF1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4953000" y="160934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개선 방식 (Early Fusion · 12채널)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974336" y="2011680"/>
            <a:ext cx="34930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Pretendard Regular" pitchFamily="34" charset="0"/>
                <a:ea typeface="Pretendard Regular" pitchFamily="34" charset="-122"/>
                <a:cs typeface="Pretendard Regular" pitchFamily="34" charset="-120"/>
              </a:rPr>
              <a:t>3개 센서(각 4피처) → 12채널 한 번에 입력</a:t>
            </a:r>
            <a:endParaRPr lang="en-US" sz="1050" dirty="0"/>
          </a:p>
          <a:p>
            <a:pPr marL="342900" indent="-342900">
              <a:lnSpc>
                <a:spcPct val="112000"/>
              </a:lnSpc>
              <a:spcAft>
                <a:spcPts val="500"/>
              </a:spcAft>
              <a:buSzPct val="100000"/>
              <a:buFontTx/>
              <a:buChar char="•"/>
            </a:pPr>
            <a:r>
              <a:rPr lang="en-US" altLang="ko-KR" sz="1050" b="1" dirty="0" err="1">
                <a:solidFill>
                  <a:srgbClr val="2473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추가</a:t>
            </a:r>
            <a:r>
              <a:rPr lang="en-US" altLang="ko-KR" sz="1050" b="1" dirty="0">
                <a:solidFill>
                  <a:srgbClr val="2473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050" b="1" dirty="0" err="1">
                <a:solidFill>
                  <a:srgbClr val="2473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</a:t>
            </a:r>
            <a:r>
              <a:rPr lang="en-US" altLang="ko-KR" sz="1050" b="1" dirty="0">
                <a:solidFill>
                  <a:srgbClr val="2473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 12채널 </a:t>
            </a:r>
            <a:r>
              <a:rPr lang="en-US" altLang="ko-KR" sz="1050" b="1" dirty="0" err="1">
                <a:solidFill>
                  <a:srgbClr val="2473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융합</a:t>
            </a:r>
            <a:r>
              <a:rPr lang="en-US" altLang="ko-KR" sz="1050" b="1" dirty="0">
                <a:solidFill>
                  <a:srgbClr val="2473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050" b="1" dirty="0" err="1">
                <a:solidFill>
                  <a:srgbClr val="2473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</a:t>
            </a:r>
            <a:r>
              <a:rPr lang="en-US" altLang="ko-KR" sz="1050" b="1" dirty="0">
                <a:solidFill>
                  <a:srgbClr val="2473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3개 학</a:t>
            </a:r>
            <a:r>
              <a:rPr lang="ko-KR" altLang="en-US" sz="1050" b="1" dirty="0">
                <a:solidFill>
                  <a:srgbClr val="2473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습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57200" y="306933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1A6FF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차종별 macro-F1 — Late vs Early Fusion</a:t>
            </a:r>
            <a:endParaRPr lang="en-US" sz="1100" dirty="0">
              <a:solidFill>
                <a:srgbClr val="1A6FF4"/>
              </a:solidFill>
            </a:endParaRPr>
          </a:p>
        </p:txBody>
      </p:sp>
      <p:graphicFrame>
        <p:nvGraphicFramePr>
          <p:cNvPr id="17" name="Chart 0"/>
          <p:cNvGraphicFramePr/>
          <p:nvPr>
            <p:extLst>
              <p:ext uri="{D42A27DB-BD31-4B8C-83A1-F6EECF244321}">
                <p14:modId xmlns:p14="http://schemas.microsoft.com/office/powerpoint/2010/main" val="4041898283"/>
              </p:ext>
            </p:extLst>
          </p:nvPr>
        </p:nvGraphicFramePr>
        <p:xfrm>
          <a:off x="457200" y="3316224"/>
          <a:ext cx="6035040" cy="13533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Shape 14"/>
          <p:cNvSpPr/>
          <p:nvPr/>
        </p:nvSpPr>
        <p:spPr>
          <a:xfrm>
            <a:off x="6720840" y="3334512"/>
            <a:ext cx="1965960" cy="402336"/>
          </a:xfrm>
          <a:prstGeom prst="roundRect">
            <a:avLst>
              <a:gd name="adj" fmla="val 18182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5"/>
          <p:cNvSpPr/>
          <p:nvPr/>
        </p:nvSpPr>
        <p:spPr>
          <a:xfrm>
            <a:off x="6858000" y="333451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IONIQ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7498080" y="3334512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1A6FF4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+0.214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6720840" y="3810000"/>
            <a:ext cx="1965960" cy="402336"/>
          </a:xfrm>
          <a:prstGeom prst="roundRect">
            <a:avLst>
              <a:gd name="adj" fmla="val 18182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8"/>
          <p:cNvSpPr/>
          <p:nvPr/>
        </p:nvSpPr>
        <p:spPr>
          <a:xfrm>
            <a:off x="6858000" y="381000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KONA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7498080" y="3810000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1A6FF4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+0.202</a:t>
            </a:r>
            <a:endParaRPr lang="en-US" sz="1500" dirty="0"/>
          </a:p>
        </p:txBody>
      </p:sp>
      <p:sp>
        <p:nvSpPr>
          <p:cNvPr id="24" name="Shape 20"/>
          <p:cNvSpPr/>
          <p:nvPr/>
        </p:nvSpPr>
        <p:spPr>
          <a:xfrm>
            <a:off x="6720840" y="4285488"/>
            <a:ext cx="1965960" cy="402336"/>
          </a:xfrm>
          <a:prstGeom prst="roundRect">
            <a:avLst>
              <a:gd name="adj" fmla="val 18182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1"/>
          <p:cNvSpPr/>
          <p:nvPr/>
        </p:nvSpPr>
        <p:spPr>
          <a:xfrm>
            <a:off x="6858000" y="4285488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NIRO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7498080" y="4285488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1A6FF4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+0.198</a:t>
            </a:r>
            <a:endParaRPr lang="en-US" sz="15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7C683D-1875-B1A7-7AD9-F025A7365DE1}"/>
              </a:ext>
            </a:extLst>
          </p:cNvPr>
          <p:cNvSpPr txBox="1"/>
          <p:nvPr/>
        </p:nvSpPr>
        <p:spPr>
          <a:xfrm>
            <a:off x="8750105" y="4790049"/>
            <a:ext cx="2826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8</a:t>
            </a:r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88888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ERROR ANALYSIS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혼동행렬로 본 센서별·모델별 성능 차이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99060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4572000" y="26395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행: IONIQ / KONA / NIRO     열: Current_U / Vib_Motor / Vib_TM / ★12채널 융합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631644" y="1294774"/>
            <a:ext cx="3365481" cy="897373"/>
          </a:xfrm>
          <a:prstGeom prst="roundRect">
            <a:avLst>
              <a:gd name="adj" fmla="val 7921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Text 12"/>
          <p:cNvSpPr/>
          <p:nvPr/>
        </p:nvSpPr>
        <p:spPr>
          <a:xfrm>
            <a:off x="6198572" y="1442006"/>
            <a:ext cx="3047515" cy="302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전류 센서 (Current_U)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198572" y="1754198"/>
            <a:ext cx="3029741" cy="346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ko-KR" altLang="en-US" sz="950" dirty="0">
                <a:solidFill>
                  <a:srgbClr val="555555"/>
                </a:solidFill>
                <a:latin typeface="Pretendard Regular" pitchFamily="34" charset="0"/>
                <a:ea typeface="Pretendard Regular" pitchFamily="34" charset="-122"/>
                <a:cs typeface="Pretendard Regular" pitchFamily="34" charset="-120"/>
              </a:rPr>
              <a:t>분류 성능이 가장 낮음</a:t>
            </a:r>
            <a:r>
              <a:rPr lang="en-US" altLang="ko-KR" sz="950" dirty="0">
                <a:solidFill>
                  <a:srgbClr val="555555"/>
                </a:solidFill>
                <a:latin typeface="Pretendard Regular" pitchFamily="34" charset="0"/>
                <a:ea typeface="Pretendard Regular" pitchFamily="34" charset="-122"/>
                <a:cs typeface="Pretendard Regular" pitchFamily="34" charset="-120"/>
              </a:rPr>
              <a:t>.</a:t>
            </a:r>
            <a:endParaRPr lang="en-US" sz="950" dirty="0">
              <a:solidFill>
                <a:srgbClr val="555555"/>
              </a:solidFill>
              <a:latin typeface="Pretendard Regular" pitchFamily="34" charset="0"/>
              <a:ea typeface="Pretendard Regular" pitchFamily="34" charset="-122"/>
              <a:cs typeface="Pretendard Regular" pitchFamily="34" charset="-120"/>
            </a:endParaRPr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Pretendard Regular" pitchFamily="34" charset="0"/>
                <a:ea typeface="Pretendard Regular" pitchFamily="34" charset="-122"/>
                <a:cs typeface="Pretendard Regular" pitchFamily="34" charset="-120"/>
              </a:rPr>
              <a:t>DEMAG·ECC10·ECC20 </a:t>
            </a:r>
            <a:r>
              <a:rPr lang="ko-KR" altLang="en-US" sz="950" dirty="0">
                <a:solidFill>
                  <a:srgbClr val="555555"/>
                </a:solidFill>
                <a:latin typeface="Pretendard Regular" pitchFamily="34" charset="0"/>
                <a:ea typeface="Pretendard Regular" pitchFamily="34" charset="-122"/>
                <a:cs typeface="Pretendard Regular" pitchFamily="34" charset="-120"/>
              </a:rPr>
              <a:t>간 상호 </a:t>
            </a:r>
            <a:r>
              <a:rPr lang="en-US" sz="950" dirty="0" err="1">
                <a:solidFill>
                  <a:srgbClr val="555555"/>
                </a:solidFill>
                <a:latin typeface="Pretendard Regular" pitchFamily="34" charset="0"/>
                <a:ea typeface="Pretendard Regular" pitchFamily="34" charset="-122"/>
                <a:cs typeface="Pretendard Regular" pitchFamily="34" charset="-120"/>
              </a:rPr>
              <a:t>혼동이</a:t>
            </a:r>
            <a:r>
              <a:rPr lang="en-US" sz="950" dirty="0">
                <a:solidFill>
                  <a:srgbClr val="555555"/>
                </a:solidFill>
                <a:latin typeface="Pretendard Regular" pitchFamily="34" charset="0"/>
                <a:ea typeface="Pretendard Regular" pitchFamily="34" charset="-122"/>
                <a:cs typeface="Pretendard Regular" pitchFamily="34" charset="-120"/>
              </a:rPr>
              <a:t> </a:t>
            </a:r>
            <a:r>
              <a:rPr lang="ko-KR" altLang="en-US" sz="950" dirty="0">
                <a:solidFill>
                  <a:srgbClr val="555555"/>
                </a:solidFill>
                <a:latin typeface="Pretendard Regular" pitchFamily="34" charset="0"/>
                <a:ea typeface="Pretendard Regular" pitchFamily="34" charset="-122"/>
                <a:cs typeface="Pretendard Regular" pitchFamily="34" charset="-120"/>
              </a:rPr>
              <a:t>크게 발생</a:t>
            </a:r>
            <a:r>
              <a:rPr lang="en-US" sz="950" dirty="0">
                <a:solidFill>
                  <a:srgbClr val="555555"/>
                </a:solidFill>
                <a:latin typeface="Pretendard Regular" pitchFamily="34" charset="0"/>
                <a:ea typeface="Pretendard Regular" pitchFamily="34" charset="-122"/>
                <a:cs typeface="Pretendard Regular" pitchFamily="34" charset="-120"/>
              </a:rPr>
              <a:t>. </a:t>
            </a:r>
          </a:p>
        </p:txBody>
      </p:sp>
      <p:sp>
        <p:nvSpPr>
          <p:cNvPr id="17" name="Shape 14"/>
          <p:cNvSpPr/>
          <p:nvPr/>
        </p:nvSpPr>
        <p:spPr>
          <a:xfrm>
            <a:off x="5631644" y="2364622"/>
            <a:ext cx="3365481" cy="897373"/>
          </a:xfrm>
          <a:prstGeom prst="roundRect">
            <a:avLst>
              <a:gd name="adj" fmla="val 7921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6198572" y="2511854"/>
            <a:ext cx="3047515" cy="302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진동 센서 (Vib_Motor·TM)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198572" y="2824046"/>
            <a:ext cx="3029741" cy="346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Pretendard Regular" pitchFamily="34" charset="0"/>
                <a:ea typeface="Pretendard Regular" pitchFamily="34" charset="-122"/>
                <a:cs typeface="Pretendard Regular" pitchFamily="34" charset="-120"/>
              </a:rPr>
              <a:t>ECC10·ECC20·REDUC는 </a:t>
            </a:r>
            <a:r>
              <a:rPr lang="ko-KR" altLang="en-US" sz="950" dirty="0">
                <a:solidFill>
                  <a:srgbClr val="555555"/>
                </a:solidFill>
                <a:latin typeface="Pretendard Regular" pitchFamily="34" charset="0"/>
                <a:ea typeface="Pretendard Regular" pitchFamily="34" charset="-122"/>
                <a:cs typeface="Pretendard Regular" pitchFamily="34" charset="-120"/>
              </a:rPr>
              <a:t>높은 분류 성능을 보임</a:t>
            </a:r>
            <a:endParaRPr lang="en-US" sz="950" dirty="0">
              <a:solidFill>
                <a:srgbClr val="555555"/>
              </a:solidFill>
              <a:latin typeface="Pretendard Regular" pitchFamily="34" charset="0"/>
              <a:ea typeface="Pretendard Regular" pitchFamily="34" charset="-122"/>
              <a:cs typeface="Pretendard Regular" pitchFamily="34" charset="-120"/>
            </a:endParaRPr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Pretendard Regular" pitchFamily="34" charset="0"/>
                <a:ea typeface="Pretendard Regular" pitchFamily="34" charset="-122"/>
                <a:cs typeface="Pretendard Regular" pitchFamily="34" charset="-120"/>
              </a:rPr>
              <a:t> DEMAG ↔ NORMAL </a:t>
            </a:r>
            <a:r>
              <a:rPr lang="en-US" sz="950" dirty="0" err="1">
                <a:solidFill>
                  <a:srgbClr val="555555"/>
                </a:solidFill>
                <a:latin typeface="Pretendard Regular" pitchFamily="34" charset="0"/>
                <a:ea typeface="Pretendard Regular" pitchFamily="34" charset="-122"/>
                <a:cs typeface="Pretendard Regular" pitchFamily="34" charset="-120"/>
              </a:rPr>
              <a:t>혼동</a:t>
            </a:r>
            <a:r>
              <a:rPr lang="ko-KR" altLang="en-US" sz="950" dirty="0">
                <a:solidFill>
                  <a:srgbClr val="555555"/>
                </a:solidFill>
                <a:latin typeface="Pretendard Regular" pitchFamily="34" charset="0"/>
                <a:ea typeface="Pretendard Regular" pitchFamily="34" charset="-122"/>
                <a:cs typeface="Pretendard Regular" pitchFamily="34" charset="-120"/>
              </a:rPr>
              <a:t>이 지속적으로 발생</a:t>
            </a:r>
            <a:r>
              <a:rPr lang="en-US" altLang="ko-KR" sz="950" dirty="0">
                <a:solidFill>
                  <a:srgbClr val="555555"/>
                </a:solidFill>
                <a:latin typeface="Pretendard Regular" pitchFamily="34" charset="0"/>
                <a:ea typeface="Pretendard Regular" pitchFamily="34" charset="-122"/>
                <a:cs typeface="Pretendard Regular" pitchFamily="34" charset="-120"/>
              </a:rPr>
              <a:t>.</a:t>
            </a:r>
            <a:endParaRPr lang="en-US" sz="950" dirty="0"/>
          </a:p>
        </p:txBody>
      </p:sp>
      <p:sp>
        <p:nvSpPr>
          <p:cNvPr id="22" name="Shape 19"/>
          <p:cNvSpPr>
            <a:spLocks/>
          </p:cNvSpPr>
          <p:nvPr/>
        </p:nvSpPr>
        <p:spPr>
          <a:xfrm>
            <a:off x="5631644" y="3434470"/>
            <a:ext cx="3365481" cy="1264076"/>
          </a:xfrm>
          <a:prstGeom prst="roundRect">
            <a:avLst>
              <a:gd name="adj" fmla="val 7921"/>
            </a:avLst>
          </a:prstGeom>
          <a:solidFill>
            <a:srgbClr val="EAF1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0"/>
          <p:cNvSpPr/>
          <p:nvPr/>
        </p:nvSpPr>
        <p:spPr>
          <a:xfrm>
            <a:off x="5814524" y="3617242"/>
            <a:ext cx="266546" cy="266546"/>
          </a:xfrm>
          <a:prstGeom prst="ellipse">
            <a:avLst/>
          </a:prstGeom>
          <a:solidFill>
            <a:srgbClr val="1A6F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5814524" y="3617242"/>
            <a:ext cx="266546" cy="266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FFFFFF"/>
                </a:solidFill>
                <a:latin typeface="Pretendard Bold" pitchFamily="34" charset="0"/>
              </a:rPr>
              <a:t>３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198572" y="3581702"/>
            <a:ext cx="3047515" cy="302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12채널 융합 (★12sum)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198572" y="3893893"/>
            <a:ext cx="3029741" cy="69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ko-KR" altLang="en-US" sz="950" dirty="0">
                <a:solidFill>
                  <a:srgbClr val="555555"/>
                </a:solidFill>
                <a:latin typeface="Pretendard Regular" pitchFamily="34" charset="0"/>
                <a:ea typeface="Pretendard Regular" pitchFamily="34" charset="-122"/>
                <a:cs typeface="Pretendard Regular" pitchFamily="34" charset="-120"/>
              </a:rPr>
              <a:t>모든 차종에서 가장 높은 분류 성능을 기록</a:t>
            </a:r>
            <a:endParaRPr lang="en-US" altLang="ko-KR" sz="950" dirty="0">
              <a:solidFill>
                <a:srgbClr val="555555"/>
              </a:solidFill>
              <a:latin typeface="Pretendard Regular" pitchFamily="34" charset="0"/>
              <a:ea typeface="Pretendard Regular" pitchFamily="34" charset="-122"/>
              <a:cs typeface="Pretendard Regular" pitchFamily="34" charset="-120"/>
            </a:endParaRPr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Pretendard Regular" pitchFamily="34" charset="0"/>
                <a:ea typeface="Pretendard Regular" pitchFamily="34" charset="-122"/>
                <a:cs typeface="Pretendard Regular" pitchFamily="34" charset="-120"/>
              </a:rPr>
              <a:t>DEMAG → NORMAL </a:t>
            </a:r>
            <a:r>
              <a:rPr lang="ko-KR" altLang="en-US" sz="950" dirty="0" err="1">
                <a:solidFill>
                  <a:srgbClr val="555555"/>
                </a:solidFill>
                <a:latin typeface="Pretendard Regular" pitchFamily="34" charset="0"/>
                <a:ea typeface="Pretendard Regular" pitchFamily="34" charset="-122"/>
                <a:cs typeface="Pretendard Regular" pitchFamily="34" charset="-120"/>
              </a:rPr>
              <a:t>오분류가</a:t>
            </a:r>
            <a:r>
              <a:rPr lang="ko-KR" altLang="en-US" sz="950" dirty="0">
                <a:solidFill>
                  <a:srgbClr val="555555"/>
                </a:solidFill>
                <a:latin typeface="Pretendard Regular" pitchFamily="34" charset="0"/>
                <a:ea typeface="Pretendard Regular" pitchFamily="34" charset="-122"/>
                <a:cs typeface="Pretendard Regular" pitchFamily="34" charset="-120"/>
              </a:rPr>
              <a:t> 절반 이하 감소</a:t>
            </a:r>
            <a:r>
              <a:rPr lang="en-US" altLang="ko-KR" sz="950" dirty="0">
                <a:solidFill>
                  <a:srgbClr val="555555"/>
                </a:solidFill>
                <a:latin typeface="Pretendard Regular" pitchFamily="34" charset="0"/>
                <a:ea typeface="Pretendard Regular" pitchFamily="34" charset="-122"/>
                <a:cs typeface="Pretendard Regular" pitchFamily="34" charset="-120"/>
              </a:rPr>
              <a:t>.</a:t>
            </a:r>
          </a:p>
          <a:p>
            <a:pPr>
              <a:lnSpc>
                <a:spcPct val="108000"/>
              </a:lnSpc>
            </a:pPr>
            <a:r>
              <a:rPr lang="en" altLang="ko-KR" sz="950" dirty="0">
                <a:solidFill>
                  <a:srgbClr val="555555"/>
                </a:solidFill>
                <a:latin typeface="Pretendard Regular" pitchFamily="34" charset="0"/>
                <a:ea typeface="Pretendard Regular" pitchFamily="34" charset="-122"/>
                <a:cs typeface="Pretendard Regular" pitchFamily="34" charset="-120"/>
              </a:rPr>
              <a:t>DEMAG ↔ NORMAL </a:t>
            </a:r>
            <a:r>
              <a:rPr lang="ko-KR" altLang="en-US" sz="950" dirty="0">
                <a:solidFill>
                  <a:srgbClr val="555555"/>
                </a:solidFill>
                <a:latin typeface="Pretendard Regular" pitchFamily="34" charset="0"/>
                <a:ea typeface="Pretendard Regular" pitchFamily="34" charset="-122"/>
                <a:cs typeface="Pretendard Regular" pitchFamily="34" charset="-120"/>
              </a:rPr>
              <a:t>은 여전히 구분이 가장 어려움</a:t>
            </a:r>
            <a:endParaRPr lang="en-US" sz="950" dirty="0"/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4FD69D94-DA64-E35F-BA09-3261B9E9D0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3932"/>
          <a:stretch>
            <a:fillRect/>
          </a:stretch>
        </p:blipFill>
        <p:spPr>
          <a:xfrm>
            <a:off x="205345" y="1332822"/>
            <a:ext cx="3776076" cy="375455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B5255466-18E4-DDE7-4F9B-87E5C09916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123"/>
          <a:stretch>
            <a:fillRect/>
          </a:stretch>
        </p:blipFill>
        <p:spPr>
          <a:xfrm>
            <a:off x="4279224" y="1333923"/>
            <a:ext cx="1234918" cy="3754558"/>
          </a:xfrm>
          <a:prstGeom prst="rect">
            <a:avLst/>
          </a:prstGeom>
        </p:spPr>
      </p:pic>
      <p:sp>
        <p:nvSpPr>
          <p:cNvPr id="6" name="Shape 20">
            <a:extLst>
              <a:ext uri="{FF2B5EF4-FFF2-40B4-BE49-F238E27FC236}">
                <a16:creationId xmlns:a16="http://schemas.microsoft.com/office/drawing/2014/main" id="{263BD01B-1854-DBBD-281D-06374E1FB321}"/>
              </a:ext>
            </a:extLst>
          </p:cNvPr>
          <p:cNvSpPr/>
          <p:nvPr/>
        </p:nvSpPr>
        <p:spPr>
          <a:xfrm>
            <a:off x="5776864" y="2557500"/>
            <a:ext cx="266546" cy="266546"/>
          </a:xfrm>
          <a:prstGeom prst="ellipse">
            <a:avLst/>
          </a:prstGeom>
          <a:solidFill>
            <a:srgbClr val="1A6F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21">
            <a:extLst>
              <a:ext uri="{FF2B5EF4-FFF2-40B4-BE49-F238E27FC236}">
                <a16:creationId xmlns:a16="http://schemas.microsoft.com/office/drawing/2014/main" id="{8F254D93-C3EA-0C5E-EA33-8BF20DEED22C}"/>
              </a:ext>
            </a:extLst>
          </p:cNvPr>
          <p:cNvSpPr/>
          <p:nvPr/>
        </p:nvSpPr>
        <p:spPr>
          <a:xfrm>
            <a:off x="5776864" y="2557500"/>
            <a:ext cx="266546" cy="266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FFFFFF"/>
                </a:solidFill>
                <a:latin typeface="Pretendard Bold" pitchFamily="34" charset="0"/>
              </a:rPr>
              <a:t>２</a:t>
            </a:r>
            <a:endParaRPr lang="en-US" sz="1100" dirty="0"/>
          </a:p>
        </p:txBody>
      </p:sp>
      <p:sp>
        <p:nvSpPr>
          <p:cNvPr id="8" name="Shape 20">
            <a:extLst>
              <a:ext uri="{FF2B5EF4-FFF2-40B4-BE49-F238E27FC236}">
                <a16:creationId xmlns:a16="http://schemas.microsoft.com/office/drawing/2014/main" id="{B00627E2-8EBB-9451-7806-E5AB837E2F44}"/>
              </a:ext>
            </a:extLst>
          </p:cNvPr>
          <p:cNvSpPr/>
          <p:nvPr/>
        </p:nvSpPr>
        <p:spPr>
          <a:xfrm>
            <a:off x="5776864" y="1477546"/>
            <a:ext cx="266546" cy="266546"/>
          </a:xfrm>
          <a:prstGeom prst="ellipse">
            <a:avLst/>
          </a:prstGeom>
          <a:solidFill>
            <a:srgbClr val="1A6F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21">
            <a:extLst>
              <a:ext uri="{FF2B5EF4-FFF2-40B4-BE49-F238E27FC236}">
                <a16:creationId xmlns:a16="http://schemas.microsoft.com/office/drawing/2014/main" id="{86AE65E0-B6B5-DD97-7AEE-4DCA6B6573F3}"/>
              </a:ext>
            </a:extLst>
          </p:cNvPr>
          <p:cNvSpPr/>
          <p:nvPr/>
        </p:nvSpPr>
        <p:spPr>
          <a:xfrm>
            <a:off x="5776864" y="1477546"/>
            <a:ext cx="266546" cy="266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FFFFFF"/>
                </a:solidFill>
                <a:latin typeface="Pretendard Bold" pitchFamily="34" charset="0"/>
              </a:rPr>
              <a:t>１</a:t>
            </a:r>
            <a:endParaRPr lang="en-US" sz="1100" dirty="0"/>
          </a:p>
        </p:txBody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DA077388-4EA8-022B-F632-AE9E893497EC}"/>
              </a:ext>
            </a:extLst>
          </p:cNvPr>
          <p:cNvSpPr/>
          <p:nvPr/>
        </p:nvSpPr>
        <p:spPr>
          <a:xfrm>
            <a:off x="532813" y="1077792"/>
            <a:ext cx="770314" cy="302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 err="1">
                <a:solidFill>
                  <a:srgbClr val="1A6FF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Current_U</a:t>
            </a:r>
            <a:endParaRPr lang="en-US" sz="1050" dirty="0">
              <a:solidFill>
                <a:srgbClr val="1A6FF4"/>
              </a:solidFill>
            </a:endParaRPr>
          </a:p>
        </p:txBody>
      </p:sp>
      <p:sp>
        <p:nvSpPr>
          <p:cNvPr id="32" name="Text 17">
            <a:extLst>
              <a:ext uri="{FF2B5EF4-FFF2-40B4-BE49-F238E27FC236}">
                <a16:creationId xmlns:a16="http://schemas.microsoft.com/office/drawing/2014/main" id="{32F75820-085A-4ED1-3455-6D15165D8598}"/>
              </a:ext>
            </a:extLst>
          </p:cNvPr>
          <p:cNvSpPr/>
          <p:nvPr/>
        </p:nvSpPr>
        <p:spPr>
          <a:xfrm>
            <a:off x="1751700" y="1077792"/>
            <a:ext cx="770315" cy="302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 err="1">
                <a:solidFill>
                  <a:srgbClr val="1A6FF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Vib_Motor</a:t>
            </a:r>
            <a:endParaRPr lang="en-US" sz="1050" dirty="0">
              <a:solidFill>
                <a:srgbClr val="1A6FF4"/>
              </a:solidFill>
            </a:endParaRPr>
          </a:p>
        </p:txBody>
      </p:sp>
      <p:sp>
        <p:nvSpPr>
          <p:cNvPr id="34" name="Text 17">
            <a:extLst>
              <a:ext uri="{FF2B5EF4-FFF2-40B4-BE49-F238E27FC236}">
                <a16:creationId xmlns:a16="http://schemas.microsoft.com/office/drawing/2014/main" id="{68DD7E0C-766F-ED3D-38E5-372E53A9C2AD}"/>
              </a:ext>
            </a:extLst>
          </p:cNvPr>
          <p:cNvSpPr/>
          <p:nvPr/>
        </p:nvSpPr>
        <p:spPr>
          <a:xfrm>
            <a:off x="3022880" y="1091961"/>
            <a:ext cx="625676" cy="302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 err="1">
                <a:solidFill>
                  <a:srgbClr val="1A6FF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Vib_TM</a:t>
            </a:r>
            <a:endParaRPr lang="en-US" sz="1050" dirty="0">
              <a:solidFill>
                <a:srgbClr val="1A6FF4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01589B9-71C8-F512-15AA-9A6E7B7820BF}"/>
              </a:ext>
            </a:extLst>
          </p:cNvPr>
          <p:cNvSpPr txBox="1"/>
          <p:nvPr/>
        </p:nvSpPr>
        <p:spPr>
          <a:xfrm>
            <a:off x="4482286" y="1098030"/>
            <a:ext cx="90852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dirty="0">
                <a:solidFill>
                  <a:srgbClr val="1A6FF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12채널 </a:t>
            </a:r>
            <a:r>
              <a:rPr lang="en-US" altLang="ko-KR" sz="1050" dirty="0" err="1">
                <a:solidFill>
                  <a:srgbClr val="1A6FF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융합</a:t>
            </a:r>
            <a:r>
              <a:rPr lang="en-US" altLang="ko-KR" sz="1050" dirty="0">
                <a:solidFill>
                  <a:srgbClr val="1A6FF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 </a:t>
            </a:r>
            <a:endParaRPr lang="ko-KR" altLang="en-US" sz="1050" dirty="0">
              <a:solidFill>
                <a:srgbClr val="1A6FF4"/>
              </a:solidFill>
            </a:endParaRPr>
          </a:p>
        </p:txBody>
      </p:sp>
      <p:sp>
        <p:nvSpPr>
          <p:cNvPr id="37" name="화살표: 오른쪽 36">
            <a:extLst>
              <a:ext uri="{FF2B5EF4-FFF2-40B4-BE49-F238E27FC236}">
                <a16:creationId xmlns:a16="http://schemas.microsoft.com/office/drawing/2014/main" id="{59824CAB-799C-3A32-5108-4ECE1C3F0693}"/>
              </a:ext>
            </a:extLst>
          </p:cNvPr>
          <p:cNvSpPr/>
          <p:nvPr/>
        </p:nvSpPr>
        <p:spPr>
          <a:xfrm>
            <a:off x="3998494" y="2858532"/>
            <a:ext cx="263657" cy="403463"/>
          </a:xfrm>
          <a:prstGeom prst="rightArrow">
            <a:avLst/>
          </a:prstGeom>
          <a:solidFill>
            <a:srgbClr val="1A6FF4"/>
          </a:solidFill>
          <a:ln>
            <a:solidFill>
              <a:srgbClr val="1A6F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6CBD12-5F1D-A245-7E46-D1F68C54835E}"/>
              </a:ext>
            </a:extLst>
          </p:cNvPr>
          <p:cNvSpPr txBox="1"/>
          <p:nvPr/>
        </p:nvSpPr>
        <p:spPr>
          <a:xfrm>
            <a:off x="8750105" y="4790049"/>
            <a:ext cx="2826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9</a:t>
            </a:r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88888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RESULTS SUMMARY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결과 종합 — 3단계 개선의 성과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1423718"/>
              </p:ext>
            </p:extLst>
          </p:nvPr>
        </p:nvGraphicFramePr>
        <p:xfrm>
          <a:off x="457200" y="1463040"/>
          <a:ext cx="8229600" cy="164592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항목</a:t>
                      </a:r>
                      <a:endParaRPr lang="en-US" sz="10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기준 모델</a:t>
                      </a:r>
                      <a:endParaRPr lang="en-US" sz="10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속도 개선</a:t>
                      </a:r>
                      <a:endParaRPr lang="en-US" sz="10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6FF4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융합 모델</a:t>
                      </a:r>
                      <a:endParaRPr lang="en-US" sz="10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입력 구성</a:t>
                      </a:r>
                      <a:endParaRPr lang="en-US" sz="10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Pretendard Regular" pitchFamily="34" charset="0"/>
                          <a:ea typeface="Pretendard Regular" pitchFamily="34" charset="-122"/>
                          <a:cs typeface="Pretendard Regular" pitchFamily="34" charset="-120"/>
                        </a:rPr>
                        <a:t>센서별 4피처</a:t>
                      </a:r>
                      <a:endParaRPr lang="en-US" sz="1000" dirty="0">
                        <a:latin typeface="Pretendard Regular" charset="0"/>
                        <a:ea typeface="Pretendard Regular" charset="0"/>
                        <a:cs typeface="Pretendard Regula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Pretendard Regular" pitchFamily="34" charset="0"/>
                          <a:ea typeface="Pretendard Regular" pitchFamily="34" charset="-122"/>
                          <a:cs typeface="Pretendard Regular" pitchFamily="34" charset="-120"/>
                        </a:rPr>
                        <a:t>센서별 4피처</a:t>
                      </a:r>
                      <a:endParaRPr lang="en-US" sz="1000" dirty="0">
                        <a:latin typeface="Pretendard Regular" charset="0"/>
                        <a:ea typeface="Pretendard Regular" charset="0"/>
                        <a:cs typeface="Pretendard Regula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3센서 12채널</a:t>
                      </a:r>
                      <a:endParaRPr lang="en-US" sz="10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결합 방식</a:t>
                      </a:r>
                      <a:endParaRPr lang="en-US" sz="10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Pretendard Regular" pitchFamily="34" charset="0"/>
                          <a:ea typeface="Pretendard Regular" pitchFamily="34" charset="-122"/>
                          <a:cs typeface="Pretendard Regular" pitchFamily="34" charset="-120"/>
                        </a:rPr>
                        <a:t>late fusion</a:t>
                      </a:r>
                      <a:endParaRPr lang="en-US" sz="1000" dirty="0">
                        <a:latin typeface="Pretendard Regular" charset="0"/>
                        <a:ea typeface="Pretendard Regular" charset="0"/>
                        <a:cs typeface="Pretendard Regula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Pretendard Regular" pitchFamily="34" charset="0"/>
                          <a:ea typeface="Pretendard Regular" pitchFamily="34" charset="-122"/>
                          <a:cs typeface="Pretendard Regular" pitchFamily="34" charset="-120"/>
                        </a:rPr>
                        <a:t>late fusion</a:t>
                      </a:r>
                      <a:endParaRPr lang="en-US" sz="1000" dirty="0">
                        <a:latin typeface="Pretendard Regular" charset="0"/>
                        <a:ea typeface="Pretendard Regular" charset="0"/>
                        <a:cs typeface="Pretendard Regula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early fusion</a:t>
                      </a:r>
                      <a:endParaRPr lang="en-US" sz="10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솔버</a:t>
                      </a:r>
                      <a:endParaRPr lang="en-US" sz="10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Pretendard Regular" pitchFamily="34" charset="0"/>
                          <a:ea typeface="Pretendard Regular" pitchFamily="34" charset="-122"/>
                          <a:cs typeface="Pretendard Regular" pitchFamily="34" charset="-120"/>
                        </a:rPr>
                        <a:t>saga</a:t>
                      </a:r>
                      <a:endParaRPr lang="en-US" sz="1000" dirty="0">
                        <a:latin typeface="Pretendard Regular" charset="0"/>
                        <a:ea typeface="Pretendard Regular" charset="0"/>
                        <a:cs typeface="Pretendard Regula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6FF4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lbfgs</a:t>
                      </a:r>
                      <a:endParaRPr lang="en-US" sz="10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Pretendard Regular" pitchFamily="34" charset="0"/>
                          <a:ea typeface="Pretendard Regular" pitchFamily="34" charset="-122"/>
                          <a:cs typeface="Pretendard Regular" pitchFamily="34" charset="-120"/>
                        </a:rPr>
                        <a:t>lbfgs</a:t>
                      </a:r>
                      <a:endParaRPr lang="en-US" sz="1000" dirty="0">
                        <a:latin typeface="Pretendard Regular" charset="0"/>
                        <a:ea typeface="Pretendard Regular" charset="0"/>
                        <a:cs typeface="Pretendard Regula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학습 시간</a:t>
                      </a:r>
                      <a:endParaRPr lang="en-US" sz="10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Pretendard Regular" pitchFamily="34" charset="0"/>
                          <a:ea typeface="Pretendard Regular" pitchFamily="34" charset="-122"/>
                          <a:cs typeface="Pretendard Regular" pitchFamily="34" charset="-120"/>
                        </a:rPr>
                        <a:t>약 28시간</a:t>
                      </a:r>
                      <a:endParaRPr lang="en-US" sz="1000" dirty="0">
                        <a:latin typeface="Pretendard Regular" charset="0"/>
                        <a:ea typeface="Pretendard Regular" charset="0"/>
                        <a:cs typeface="Pretendard Regula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6FF4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1시간 5</a:t>
                      </a:r>
                      <a:r>
                        <a:rPr lang="en-US" altLang="ko-KR" sz="1000" dirty="0">
                          <a:solidFill>
                            <a:srgbClr val="1A6FF4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0</a:t>
                      </a:r>
                      <a:r>
                        <a:rPr lang="en-US" sz="1000" dirty="0">
                          <a:solidFill>
                            <a:srgbClr val="1A6FF4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분</a:t>
                      </a:r>
                      <a:endParaRPr lang="en-US" sz="10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Pretendard Regular" pitchFamily="34" charset="0"/>
                          <a:ea typeface="Pretendard Regular" pitchFamily="34" charset="-122"/>
                          <a:cs typeface="Pretendard Regular" pitchFamily="34" charset="-120"/>
                        </a:rPr>
                        <a:t>약 1시간 6분</a:t>
                      </a:r>
                      <a:endParaRPr lang="en-US" sz="1000" dirty="0">
                        <a:latin typeface="Pretendard Regular" charset="0"/>
                        <a:ea typeface="Pretendard Regular" charset="0"/>
                        <a:cs typeface="Pretendard Regula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macro-F1 평균</a:t>
                      </a:r>
                      <a:endParaRPr lang="en-US" sz="10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Pretendard Regular" pitchFamily="34" charset="0"/>
                          <a:ea typeface="Pretendard Regular" pitchFamily="34" charset="-122"/>
                          <a:cs typeface="Pretendard Regular" pitchFamily="34" charset="-120"/>
                        </a:rPr>
                        <a:t>0.63~0.67</a:t>
                      </a:r>
                      <a:endParaRPr lang="en-US" sz="1000" dirty="0">
                        <a:latin typeface="Pretendard Regular" charset="0"/>
                        <a:ea typeface="Pretendard Regular" charset="0"/>
                        <a:cs typeface="Pretendard Regula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Pretendard Regular" pitchFamily="34" charset="0"/>
                          <a:ea typeface="Pretendard Regular" pitchFamily="34" charset="-122"/>
                          <a:cs typeface="Pretendard Regular" pitchFamily="34" charset="-120"/>
                        </a:rPr>
                        <a:t>동일</a:t>
                      </a:r>
                      <a:endParaRPr lang="en-US" sz="1000" dirty="0">
                        <a:latin typeface="Pretendard Regular" charset="0"/>
                        <a:ea typeface="Pretendard Regular" charset="0"/>
                        <a:cs typeface="Pretendard Regula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0.83~0.87</a:t>
                      </a:r>
                      <a:endParaRPr lang="en-US" sz="10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3456432"/>
            <a:ext cx="2560320" cy="868680"/>
          </a:xfrm>
          <a:prstGeom prst="roundRect">
            <a:avLst>
              <a:gd name="adj" fmla="val 8421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640080" y="35478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A6FF4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16.5 ms</a:t>
            </a:r>
            <a:endParaRPr lang="en-US" sz="2200" dirty="0"/>
          </a:p>
        </p:txBody>
      </p:sp>
      <p:sp>
        <p:nvSpPr>
          <p:cNvPr id="8" name="Text 8"/>
          <p:cNvSpPr/>
          <p:nvPr/>
        </p:nvSpPr>
        <p:spPr>
          <a:xfrm>
            <a:off x="557784" y="3909060"/>
            <a:ext cx="248412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목표 추론시간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(100ms)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대비 약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배 빠른 속도</a:t>
            </a:r>
            <a:endParaRPr lang="en-US" sz="10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3291840" y="3456432"/>
            <a:ext cx="2560320" cy="868680"/>
          </a:xfrm>
          <a:prstGeom prst="roundRect">
            <a:avLst>
              <a:gd name="adj" fmla="val 8421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3474720" y="35478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A6FF4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6.38 MB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3474720" y="39136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센서별 모델 9개 합산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126480" y="3456432"/>
            <a:ext cx="2560320" cy="868680"/>
          </a:xfrm>
          <a:prstGeom prst="roundRect">
            <a:avLst>
              <a:gd name="adj" fmla="val 8421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6309360" y="35478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A6FF4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2.16 MB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6309360" y="39136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융합 모델 3개</a:t>
            </a:r>
            <a:endParaRPr lang="en-US" sz="105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50E401-511D-6C4D-0C58-072014C1AC22}"/>
              </a:ext>
            </a:extLst>
          </p:cNvPr>
          <p:cNvSpPr txBox="1"/>
          <p:nvPr/>
        </p:nvSpPr>
        <p:spPr>
          <a:xfrm>
            <a:off x="8686801" y="4790049"/>
            <a:ext cx="34597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10</a:t>
            </a:r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EBAF63-E8C3-A416-65BC-1BA70D638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0">
            <a:extLst>
              <a:ext uri="{FF2B5EF4-FFF2-40B4-BE49-F238E27FC236}">
                <a16:creationId xmlns:a16="http://schemas.microsoft.com/office/drawing/2014/main" id="{C8F78D7D-42CD-780F-150C-DA3AEA235E14}"/>
              </a:ext>
            </a:extLst>
          </p:cNvPr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kern="0" spc="100" dirty="0">
                <a:solidFill>
                  <a:srgbClr val="88888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Advancements over existing works</a:t>
            </a:r>
            <a:endParaRPr lang="en-US" sz="900" dirty="0"/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D2FF0D36-6216-4DBC-3687-01086CA719DB}"/>
              </a:ext>
            </a:extLst>
          </p:cNvPr>
          <p:cNvSpPr/>
          <p:nvPr/>
        </p:nvSpPr>
        <p:spPr>
          <a:xfrm>
            <a:off x="457200" y="5669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기존 연구 대비 개선점</a:t>
            </a:r>
            <a:endParaRPr lang="en-US" sz="2400" dirty="0"/>
          </a:p>
        </p:txBody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2CD56166-91D8-D0F0-B231-FF03A408A12D}"/>
              </a:ext>
            </a:extLst>
          </p:cNvPr>
          <p:cNvSpPr/>
          <p:nvPr/>
        </p:nvSpPr>
        <p:spPr>
          <a:xfrm>
            <a:off x="457200" y="123444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6B9492DE-A9EB-8F22-45A2-8D586E60447D}"/>
              </a:ext>
            </a:extLst>
          </p:cNvPr>
          <p:cNvSpPr/>
          <p:nvPr/>
        </p:nvSpPr>
        <p:spPr>
          <a:xfrm>
            <a:off x="457200" y="1417320"/>
            <a:ext cx="3886200" cy="2331720"/>
          </a:xfrm>
          <a:prstGeom prst="roundRect">
            <a:avLst>
              <a:gd name="adj" fmla="val 3137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EA718337-D3C4-FF6D-43A8-706BE143A11E}"/>
              </a:ext>
            </a:extLst>
          </p:cNvPr>
          <p:cNvSpPr/>
          <p:nvPr/>
        </p:nvSpPr>
        <p:spPr>
          <a:xfrm>
            <a:off x="658368" y="1572768"/>
            <a:ext cx="34838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기존 연구</a:t>
            </a:r>
            <a:endParaRPr lang="en-US" sz="1600" dirty="0"/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24321285-2E1C-DA52-EEEC-3AC4D1062AE5}"/>
              </a:ext>
            </a:extLst>
          </p:cNvPr>
          <p:cNvSpPr/>
          <p:nvPr/>
        </p:nvSpPr>
        <p:spPr>
          <a:xfrm>
            <a:off x="658368" y="1865376"/>
            <a:ext cx="34838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50" dirty="0">
                <a:solidFill>
                  <a:srgbClr val="88888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AI Hub Baseline</a:t>
            </a:r>
            <a:endParaRPr lang="en-US" sz="900" dirty="0"/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CA7C7D74-51F4-6DD8-91FB-AA7AA3A5E701}"/>
              </a:ext>
            </a:extLst>
          </p:cNvPr>
          <p:cNvSpPr/>
          <p:nvPr/>
        </p:nvSpPr>
        <p:spPr>
          <a:xfrm>
            <a:off x="658368" y="2148840"/>
            <a:ext cx="348386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기반 스펙트로그램 · 약 1.15TB</a:t>
            </a:r>
            <a:endParaRPr lang="en-US" sz="1100" dirty="0"/>
          </a:p>
          <a:p>
            <a:pPr marL="177800" indent="-177800" algn="l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DeepLabV3+ 고성능 이미지 모델</a:t>
            </a:r>
            <a:endParaRPr lang="en-US" sz="1100" dirty="0"/>
          </a:p>
          <a:p>
            <a:pPr marL="177800" indent="-177800" algn="l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mIoU 0.99 · 성능 중심 평가</a:t>
            </a:r>
            <a:endParaRPr lang="en-US" sz="1100" dirty="0"/>
          </a:p>
          <a:p>
            <a:pPr marL="177800" indent="-177800" algn="l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수백 ms 추론 · 데이터 누수 가능성</a:t>
            </a:r>
            <a:endParaRPr lang="en-US" sz="1100" dirty="0"/>
          </a:p>
        </p:txBody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3915F611-258F-C56E-8D47-7444367345F1}"/>
              </a:ext>
            </a:extLst>
          </p:cNvPr>
          <p:cNvSpPr/>
          <p:nvPr/>
        </p:nvSpPr>
        <p:spPr>
          <a:xfrm>
            <a:off x="4800600" y="1417320"/>
            <a:ext cx="3886200" cy="2331720"/>
          </a:xfrm>
          <a:prstGeom prst="roundRect">
            <a:avLst>
              <a:gd name="adj" fmla="val 3922"/>
            </a:avLst>
          </a:prstGeom>
          <a:solidFill>
            <a:srgbClr val="1A6F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77EFB2FF-877F-5D27-AF3F-1342E2DCB5F0}"/>
              </a:ext>
            </a:extLst>
          </p:cNvPr>
          <p:cNvSpPr/>
          <p:nvPr/>
        </p:nvSpPr>
        <p:spPr>
          <a:xfrm>
            <a:off x="5001768" y="1572768"/>
            <a:ext cx="34838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본 연구</a:t>
            </a:r>
            <a:endParaRPr lang="en-US" sz="1600" dirty="0"/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FBD41C82-3775-A662-75D1-0AF1CC0FB19D}"/>
              </a:ext>
            </a:extLst>
          </p:cNvPr>
          <p:cNvSpPr/>
          <p:nvPr/>
        </p:nvSpPr>
        <p:spPr>
          <a:xfrm>
            <a:off x="5001768" y="1865376"/>
            <a:ext cx="34838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50" dirty="0">
                <a:solidFill>
                  <a:srgbClr val="CFE0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경량화 모델</a:t>
            </a:r>
            <a:endParaRPr lang="en-US" sz="900" dirty="0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B1C30B9D-DCEC-8FE2-6CE7-53A25FFB25CD}"/>
              </a:ext>
            </a:extLst>
          </p:cNvPr>
          <p:cNvSpPr/>
          <p:nvPr/>
        </p:nvSpPr>
        <p:spPr>
          <a:xfrm>
            <a:off x="5001768" y="2148840"/>
            <a:ext cx="348386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시계열 특징 데이터 · 약 107GB (90% ↓)</a:t>
            </a:r>
            <a:endParaRPr lang="en-US" sz="1100" dirty="0"/>
          </a:p>
          <a:p>
            <a:pPr marL="177800" indent="-177800" algn="l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Early Fusion + LBFGS 경량 ML (2.16MB)</a:t>
            </a:r>
            <a:endParaRPr lang="en-US" sz="1100" dirty="0"/>
          </a:p>
          <a:p>
            <a:pPr marL="177800" indent="-177800" algn="l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Macro-F1 0.83~0.87</a:t>
            </a:r>
            <a:endParaRPr lang="en-US" sz="1100" dirty="0"/>
          </a:p>
          <a:p>
            <a:pPr marL="177800" indent="-177800" algn="l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16.5ms 실시간 · 엣지 CPU 적용 가능</a:t>
            </a:r>
            <a:endParaRPr lang="en-US" sz="1100" dirty="0"/>
          </a:p>
        </p:txBody>
      </p:sp>
      <p:sp>
        <p:nvSpPr>
          <p:cNvPr id="26" name="Text 12">
            <a:extLst>
              <a:ext uri="{FF2B5EF4-FFF2-40B4-BE49-F238E27FC236}">
                <a16:creationId xmlns:a16="http://schemas.microsoft.com/office/drawing/2014/main" id="{0DCAEA7C-6E28-E54F-A5C4-D24CDC5C61A6}"/>
              </a:ext>
            </a:extLst>
          </p:cNvPr>
          <p:cNvSpPr/>
          <p:nvPr/>
        </p:nvSpPr>
        <p:spPr>
          <a:xfrm>
            <a:off x="420624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8888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→</a:t>
            </a:r>
            <a:endParaRPr lang="en-US" sz="2200" dirty="0"/>
          </a:p>
        </p:txBody>
      </p:sp>
      <p:sp>
        <p:nvSpPr>
          <p:cNvPr id="27" name="Shape 13">
            <a:extLst>
              <a:ext uri="{FF2B5EF4-FFF2-40B4-BE49-F238E27FC236}">
                <a16:creationId xmlns:a16="http://schemas.microsoft.com/office/drawing/2014/main" id="{B02F0A21-5156-87DA-687D-CA01365AC219}"/>
              </a:ext>
            </a:extLst>
          </p:cNvPr>
          <p:cNvSpPr/>
          <p:nvPr/>
        </p:nvSpPr>
        <p:spPr>
          <a:xfrm>
            <a:off x="457200" y="3904488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14">
            <a:extLst>
              <a:ext uri="{FF2B5EF4-FFF2-40B4-BE49-F238E27FC236}">
                <a16:creationId xmlns:a16="http://schemas.microsoft.com/office/drawing/2014/main" id="{FB6DDB51-07B4-68E9-E2D4-4A3A4B283AF3}"/>
              </a:ext>
            </a:extLst>
          </p:cNvPr>
          <p:cNvSpPr/>
          <p:nvPr/>
        </p:nvSpPr>
        <p:spPr>
          <a:xfrm>
            <a:off x="621792" y="4032504"/>
            <a:ext cx="713232" cy="310896"/>
          </a:xfrm>
          <a:prstGeom prst="roundRect">
            <a:avLst>
              <a:gd name="adj" fmla="val 14706"/>
            </a:avLst>
          </a:prstGeom>
          <a:solidFill>
            <a:srgbClr val="1A6F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15">
            <a:extLst>
              <a:ext uri="{FF2B5EF4-FFF2-40B4-BE49-F238E27FC236}">
                <a16:creationId xmlns:a16="http://schemas.microsoft.com/office/drawing/2014/main" id="{422C8781-5B3C-BE2A-62D8-49FD64625F0B}"/>
              </a:ext>
            </a:extLst>
          </p:cNvPr>
          <p:cNvSpPr/>
          <p:nvPr/>
        </p:nvSpPr>
        <p:spPr>
          <a:xfrm>
            <a:off x="621792" y="4032504"/>
            <a:ext cx="7132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핵심</a:t>
            </a:r>
            <a:endParaRPr lang="en-US" sz="1100" dirty="0"/>
          </a:p>
        </p:txBody>
      </p:sp>
      <p:sp>
        <p:nvSpPr>
          <p:cNvPr id="30" name="Text 16">
            <a:extLst>
              <a:ext uri="{FF2B5EF4-FFF2-40B4-BE49-F238E27FC236}">
                <a16:creationId xmlns:a16="http://schemas.microsoft.com/office/drawing/2014/main" id="{1F857BDC-A112-C32A-410A-281103D76FE2}"/>
              </a:ext>
            </a:extLst>
          </p:cNvPr>
          <p:cNvSpPr/>
          <p:nvPr/>
        </p:nvSpPr>
        <p:spPr>
          <a:xfrm>
            <a:off x="1463040" y="3904488"/>
            <a:ext cx="7040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최고 성능보다 </a:t>
            </a:r>
            <a:r>
              <a:rPr lang="en-US" sz="1400" dirty="0">
                <a:solidFill>
                  <a:srgbClr val="1A6FF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실제 적용 가능성</a:t>
            </a:r>
            <a:r>
              <a:rPr lang="en-US" sz="1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 확보</a:t>
            </a:r>
            <a:endParaRPr lang="en-US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B5F525-B875-C18C-FAAE-5BF0C4C784FF}"/>
              </a:ext>
            </a:extLst>
          </p:cNvPr>
          <p:cNvSpPr txBox="1"/>
          <p:nvPr/>
        </p:nvSpPr>
        <p:spPr>
          <a:xfrm>
            <a:off x="8686801" y="4790049"/>
            <a:ext cx="34597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11</a:t>
            </a:r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087126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88888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남은 과제와 2학기 계획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44526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1142824"/>
            <a:ext cx="3530991" cy="682283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58368" y="1335024"/>
            <a:ext cx="329184" cy="329184"/>
          </a:xfrm>
          <a:prstGeom prst="ellipse">
            <a:avLst/>
          </a:prstGeom>
          <a:solidFill>
            <a:srgbClr val="1A6F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58368" y="13350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298448"/>
            <a:ext cx="3136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DEMAG ↔ NORMAL 오분류 해결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1862211"/>
            <a:ext cx="3530991" cy="682283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097280" y="2026803"/>
            <a:ext cx="3136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배터리 이상 탐지 시작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" y="2605688"/>
            <a:ext cx="3530991" cy="682283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1097280" y="2770280"/>
            <a:ext cx="3136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하드웨어 환경 실측 검증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57200" y="3334043"/>
            <a:ext cx="3530991" cy="682283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1097280" y="3498635"/>
            <a:ext cx="3136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메타데이터 활용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457200" y="4062398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658368" y="4290998"/>
            <a:ext cx="859536" cy="274320"/>
          </a:xfrm>
          <a:prstGeom prst="roundRect">
            <a:avLst>
              <a:gd name="adj" fmla="val 16667"/>
            </a:avLst>
          </a:prstGeom>
          <a:solidFill>
            <a:srgbClr val="1A6F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58368" y="4290998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핵심 방향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737360" y="4062398"/>
            <a:ext cx="6748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고장 신호(Current, Vibration) 외에 운전 조건 정보를 </a:t>
            </a:r>
            <a:r>
              <a:rPr lang="en-US" sz="1250" dirty="0">
                <a:solidFill>
                  <a:srgbClr val="1A6FF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공변량(Covariate)</a:t>
            </a:r>
            <a:r>
              <a:rPr lang="en-US" sz="12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으로 활용하여 추가적인 분석 수행</a:t>
            </a:r>
            <a:endParaRPr lang="en-US" sz="1250" dirty="0"/>
          </a:p>
        </p:txBody>
      </p:sp>
      <p:sp>
        <p:nvSpPr>
          <p:cNvPr id="33" name="Shape 5">
            <a:extLst>
              <a:ext uri="{FF2B5EF4-FFF2-40B4-BE49-F238E27FC236}">
                <a16:creationId xmlns:a16="http://schemas.microsoft.com/office/drawing/2014/main" id="{0686CE73-C9B2-00A6-BA4B-5B6D05A5B588}"/>
              </a:ext>
            </a:extLst>
          </p:cNvPr>
          <p:cNvSpPr/>
          <p:nvPr/>
        </p:nvSpPr>
        <p:spPr>
          <a:xfrm>
            <a:off x="658368" y="2026803"/>
            <a:ext cx="329184" cy="329184"/>
          </a:xfrm>
          <a:prstGeom prst="ellipse">
            <a:avLst/>
          </a:prstGeom>
          <a:solidFill>
            <a:srgbClr val="1A6F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6">
            <a:extLst>
              <a:ext uri="{FF2B5EF4-FFF2-40B4-BE49-F238E27FC236}">
                <a16:creationId xmlns:a16="http://schemas.microsoft.com/office/drawing/2014/main" id="{A88F4168-4987-EA52-0B43-F882166C3CCE}"/>
              </a:ext>
            </a:extLst>
          </p:cNvPr>
          <p:cNvSpPr/>
          <p:nvPr/>
        </p:nvSpPr>
        <p:spPr>
          <a:xfrm>
            <a:off x="658368" y="202680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1300" dirty="0"/>
          </a:p>
        </p:txBody>
      </p:sp>
      <p:sp>
        <p:nvSpPr>
          <p:cNvPr id="35" name="Shape 5">
            <a:extLst>
              <a:ext uri="{FF2B5EF4-FFF2-40B4-BE49-F238E27FC236}">
                <a16:creationId xmlns:a16="http://schemas.microsoft.com/office/drawing/2014/main" id="{1A3AA860-8C2B-F5E5-629A-C0DB8DD21361}"/>
              </a:ext>
            </a:extLst>
          </p:cNvPr>
          <p:cNvSpPr/>
          <p:nvPr/>
        </p:nvSpPr>
        <p:spPr>
          <a:xfrm>
            <a:off x="658368" y="2785286"/>
            <a:ext cx="329184" cy="329184"/>
          </a:xfrm>
          <a:prstGeom prst="ellipse">
            <a:avLst/>
          </a:prstGeom>
          <a:solidFill>
            <a:srgbClr val="1A6F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6">
            <a:extLst>
              <a:ext uri="{FF2B5EF4-FFF2-40B4-BE49-F238E27FC236}">
                <a16:creationId xmlns:a16="http://schemas.microsoft.com/office/drawing/2014/main" id="{8BBBD52F-07C2-2818-A8FA-6F5B0991DA0A}"/>
              </a:ext>
            </a:extLst>
          </p:cNvPr>
          <p:cNvSpPr/>
          <p:nvPr/>
        </p:nvSpPr>
        <p:spPr>
          <a:xfrm>
            <a:off x="658368" y="278528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1300" dirty="0"/>
          </a:p>
        </p:txBody>
      </p:sp>
      <p:sp>
        <p:nvSpPr>
          <p:cNvPr id="37" name="Shape 5">
            <a:extLst>
              <a:ext uri="{FF2B5EF4-FFF2-40B4-BE49-F238E27FC236}">
                <a16:creationId xmlns:a16="http://schemas.microsoft.com/office/drawing/2014/main" id="{3833574E-0725-5D85-B24A-7688272416A1}"/>
              </a:ext>
            </a:extLst>
          </p:cNvPr>
          <p:cNvSpPr/>
          <p:nvPr/>
        </p:nvSpPr>
        <p:spPr>
          <a:xfrm>
            <a:off x="658368" y="3504614"/>
            <a:ext cx="329184" cy="329184"/>
          </a:xfrm>
          <a:prstGeom prst="ellipse">
            <a:avLst/>
          </a:prstGeom>
          <a:solidFill>
            <a:srgbClr val="1A6F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6">
            <a:extLst>
              <a:ext uri="{FF2B5EF4-FFF2-40B4-BE49-F238E27FC236}">
                <a16:creationId xmlns:a16="http://schemas.microsoft.com/office/drawing/2014/main" id="{550CC7D1-0246-651C-5350-0F4D794EDC03}"/>
              </a:ext>
            </a:extLst>
          </p:cNvPr>
          <p:cNvSpPr/>
          <p:nvPr/>
        </p:nvSpPr>
        <p:spPr>
          <a:xfrm>
            <a:off x="658368" y="350461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</a:t>
            </a:r>
            <a:endParaRPr lang="en-US" sz="1300" dirty="0"/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4A121EA4-76FC-F90E-58DE-813E81C4F4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3672" y="1261169"/>
            <a:ext cx="4217331" cy="2224571"/>
          </a:xfrm>
          <a:prstGeom prst="rect">
            <a:avLst/>
          </a:prstGeom>
          <a:ln w="19050">
            <a:solidFill>
              <a:srgbClr val="1A6FF4"/>
            </a:solidFill>
          </a:ln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963B4D3B-A8AB-7749-8B20-D754B30718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3432" y="1924245"/>
            <a:ext cx="2620566" cy="2045167"/>
          </a:xfrm>
          <a:prstGeom prst="rect">
            <a:avLst/>
          </a:prstGeom>
          <a:ln w="19050">
            <a:solidFill>
              <a:srgbClr val="1A6FF4"/>
            </a:solidFill>
          </a:ln>
        </p:spPr>
      </p:pic>
      <p:sp>
        <p:nvSpPr>
          <p:cNvPr id="43" name="직사각형 42">
            <a:extLst>
              <a:ext uri="{FF2B5EF4-FFF2-40B4-BE49-F238E27FC236}">
                <a16:creationId xmlns:a16="http://schemas.microsoft.com/office/drawing/2014/main" id="{BC989460-6B7E-FA6C-09F5-CB4F5D237973}"/>
              </a:ext>
            </a:extLst>
          </p:cNvPr>
          <p:cNvSpPr/>
          <p:nvPr/>
        </p:nvSpPr>
        <p:spPr>
          <a:xfrm>
            <a:off x="6279476" y="2559558"/>
            <a:ext cx="1630680" cy="23622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DA5EDE-D216-95D7-CEF6-B23F56AA4FE5}"/>
              </a:ext>
            </a:extLst>
          </p:cNvPr>
          <p:cNvSpPr txBox="1"/>
          <p:nvPr/>
        </p:nvSpPr>
        <p:spPr>
          <a:xfrm>
            <a:off x="8686801" y="4790049"/>
            <a:ext cx="34597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12</a:t>
            </a:r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</TotalTime>
  <Words>878</Words>
  <Application>Microsoft Office PowerPoint</Application>
  <PresentationFormat>화면 슬라이드 쇼(16:9)</PresentationFormat>
  <Paragraphs>210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1" baseType="lpstr">
      <vt:lpstr>Pretendard</vt:lpstr>
      <vt:lpstr>Pretendard Bold</vt:lpstr>
      <vt:lpstr>Pretendard ExtraBold</vt:lpstr>
      <vt:lpstr>Pretendard Medium</vt:lpstr>
      <vt:lpstr>Pretendard Regular</vt:lpstr>
      <vt:lpstr>Pretendard SemiBold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자율주행 EV 이상탐지 경량화 — 3차 발표</dc:title>
  <dc:subject>PptxGenJS Presentation</dc:subject>
  <dc:creator>7조 박세진·박솔</dc:creator>
  <cp:lastModifiedBy>박세진</cp:lastModifiedBy>
  <cp:revision>23</cp:revision>
  <dcterms:created xsi:type="dcterms:W3CDTF">2026-06-21T07:27:45Z</dcterms:created>
  <dcterms:modified xsi:type="dcterms:W3CDTF">2026-06-21T12:04:12Z</dcterms:modified>
</cp:coreProperties>
</file>